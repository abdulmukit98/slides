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9"/>
  </p:notesMasterIdLst>
  <p:sldIdLst>
    <p:sldId id="256" r:id="rId2"/>
    <p:sldId id="303" r:id="rId3"/>
    <p:sldId id="304" r:id="rId4"/>
    <p:sldId id="318" r:id="rId5"/>
    <p:sldId id="311" r:id="rId6"/>
    <p:sldId id="310" r:id="rId7"/>
    <p:sldId id="309" r:id="rId8"/>
    <p:sldId id="312" r:id="rId9"/>
    <p:sldId id="313" r:id="rId10"/>
    <p:sldId id="319" r:id="rId11"/>
    <p:sldId id="314" r:id="rId12"/>
    <p:sldId id="269" r:id="rId13"/>
    <p:sldId id="305" r:id="rId14"/>
    <p:sldId id="306" r:id="rId15"/>
    <p:sldId id="307" r:id="rId16"/>
    <p:sldId id="308" r:id="rId17"/>
    <p:sldId id="275" r:id="rId18"/>
    <p:sldId id="276" r:id="rId19"/>
    <p:sldId id="277" r:id="rId20"/>
    <p:sldId id="278" r:id="rId21"/>
    <p:sldId id="262" r:id="rId22"/>
    <p:sldId id="298" r:id="rId23"/>
    <p:sldId id="279" r:id="rId24"/>
    <p:sldId id="280" r:id="rId25"/>
    <p:sldId id="281" r:id="rId26"/>
    <p:sldId id="282" r:id="rId27"/>
    <p:sldId id="283" r:id="rId28"/>
    <p:sldId id="299" r:id="rId29"/>
    <p:sldId id="284" r:id="rId30"/>
    <p:sldId id="300" r:id="rId31"/>
    <p:sldId id="285" r:id="rId32"/>
    <p:sldId id="301" r:id="rId33"/>
    <p:sldId id="286" r:id="rId34"/>
    <p:sldId id="302" r:id="rId35"/>
    <p:sldId id="287" r:id="rId36"/>
    <p:sldId id="320" r:id="rId37"/>
    <p:sldId id="322" r:id="rId38"/>
    <p:sldId id="321" r:id="rId39"/>
    <p:sldId id="288" r:id="rId40"/>
    <p:sldId id="324" r:id="rId41"/>
    <p:sldId id="325" r:id="rId42"/>
    <p:sldId id="289" r:id="rId43"/>
    <p:sldId id="290" r:id="rId44"/>
    <p:sldId id="316" r:id="rId45"/>
    <p:sldId id="317" r:id="rId46"/>
    <p:sldId id="326" r:id="rId47"/>
    <p:sldId id="258" r:id="rId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2945" autoAdjust="0"/>
  </p:normalViewPr>
  <p:slideViewPr>
    <p:cSldViewPr snapToGrid="0">
      <p:cViewPr varScale="1">
        <p:scale>
          <a:sx n="67" d="100"/>
          <a:sy n="67" d="100"/>
        </p:scale>
        <p:origin x="780"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F31913-0FC3-4CF4-BADB-BE39A6CFBD86}" type="datetimeFigureOut">
              <a:rPr lang="en-US" smtClean="0"/>
              <a:t>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7829CF-F3B1-402F-BC88-89CA5E9C5F3F}" type="slidenum">
              <a:rPr lang="en-US" smtClean="0"/>
              <a:t>‹#›</a:t>
            </a:fld>
            <a:endParaRPr lang="en-US"/>
          </a:p>
        </p:txBody>
      </p:sp>
    </p:spTree>
    <p:extLst>
      <p:ext uri="{BB962C8B-B14F-4D97-AF65-F5344CB8AC3E}">
        <p14:creationId xmlns:p14="http://schemas.microsoft.com/office/powerpoint/2010/main" val="209786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200" dirty="0" smtClean="0"/>
              <a:t>Programming problems are easier to solve in high-level languages</a:t>
            </a:r>
          </a:p>
          <a:p>
            <a:r>
              <a:rPr lang="en-US" sz="1200" b="0" i="0" u="none" strike="noStrike" kern="1200" baseline="0" dirty="0" smtClean="0">
                <a:solidFill>
                  <a:schemeClr val="tx1"/>
                </a:solidFill>
                <a:latin typeface="+mn-lt"/>
                <a:ea typeface="+mn-ea"/>
                <a:cs typeface="+mn-cs"/>
              </a:rPr>
              <a:t>An important role of the compiler</a:t>
            </a:r>
          </a:p>
          <a:p>
            <a:r>
              <a:rPr lang="en-US" sz="1200" b="0" i="0" u="none" strike="noStrike" kern="1200" baseline="0" dirty="0" smtClean="0">
                <a:solidFill>
                  <a:schemeClr val="tx1"/>
                </a:solidFill>
                <a:latin typeface="+mn-lt"/>
                <a:ea typeface="+mn-ea"/>
                <a:cs typeface="+mn-cs"/>
              </a:rPr>
              <a:t>is to report any errors in the</a:t>
            </a:r>
          </a:p>
          <a:p>
            <a:r>
              <a:rPr lang="en-US" sz="1200" b="0" i="0" u="none" strike="noStrike" kern="1200" baseline="0" dirty="0" smtClean="0">
                <a:solidFill>
                  <a:schemeClr val="tx1"/>
                </a:solidFill>
                <a:latin typeface="+mn-lt"/>
                <a:ea typeface="+mn-ea"/>
                <a:cs typeface="+mn-cs"/>
              </a:rPr>
              <a:t>source program that it detects</a:t>
            </a:r>
          </a:p>
          <a:p>
            <a:r>
              <a:rPr lang="en-US" sz="1200" b="0" i="0" u="none" strike="noStrike" kern="1200" baseline="0" dirty="0" smtClean="0">
                <a:solidFill>
                  <a:schemeClr val="tx1"/>
                </a:solidFill>
                <a:latin typeface="+mn-lt"/>
                <a:ea typeface="+mn-ea"/>
                <a:cs typeface="+mn-cs"/>
              </a:rPr>
              <a:t>during the translation process.</a:t>
            </a:r>
            <a:endParaRPr lang="en-US" sz="2200" dirty="0" smtClean="0"/>
          </a:p>
          <a:p>
            <a:pPr lvl="1" eaLnBrk="1" hangingPunct="1"/>
            <a:r>
              <a:rPr lang="en-US" sz="2000" dirty="0" smtClean="0"/>
              <a:t>Languages closer to the level of the problem domain, e.g.,</a:t>
            </a:r>
          </a:p>
          <a:p>
            <a:pPr lvl="2" eaLnBrk="1" hangingPunct="1"/>
            <a:r>
              <a:rPr lang="en-US" sz="2000" dirty="0" err="1" smtClean="0"/>
              <a:t>SmallTalk</a:t>
            </a:r>
            <a:r>
              <a:rPr lang="en-US" sz="2000" dirty="0" smtClean="0"/>
              <a:t>: OO programming</a:t>
            </a:r>
          </a:p>
          <a:p>
            <a:pPr lvl="2" eaLnBrk="1" hangingPunct="1"/>
            <a:r>
              <a:rPr lang="en-US" sz="2000" dirty="0" smtClean="0"/>
              <a:t>JavaScript: Web pages</a:t>
            </a:r>
          </a:p>
          <a:p>
            <a:pPr lvl="2" eaLnBrk="1" hangingPunct="1"/>
            <a:endParaRPr lang="en-US" sz="2000" dirty="0" smtClean="0"/>
          </a:p>
          <a:p>
            <a:pPr eaLnBrk="1" hangingPunct="1"/>
            <a:r>
              <a:rPr lang="en-US" sz="2200" dirty="0" smtClean="0"/>
              <a:t>Solutions are usually more efficient (faster, smaller) when written in machine language</a:t>
            </a:r>
          </a:p>
          <a:p>
            <a:pPr lvl="1" eaLnBrk="1" hangingPunct="1"/>
            <a:r>
              <a:rPr lang="en-US" sz="2000" dirty="0" smtClean="0"/>
              <a:t>Language that reflects to the cycle-by-cycle working of a processor</a:t>
            </a:r>
          </a:p>
          <a:p>
            <a:pPr eaLnBrk="1" hangingPunct="1"/>
            <a:endParaRPr lang="en-US" sz="2200" dirty="0" smtClean="0"/>
          </a:p>
          <a:p>
            <a:pPr eaLnBrk="1" hangingPunct="1"/>
            <a:r>
              <a:rPr lang="en-US" sz="2200" dirty="0" smtClean="0"/>
              <a:t>Compilers are the bridges:</a:t>
            </a:r>
          </a:p>
          <a:p>
            <a:pPr lvl="1" eaLnBrk="1" hangingPunct="1"/>
            <a:r>
              <a:rPr lang="en-US" sz="2000" dirty="0" smtClean="0"/>
              <a:t>Tools to translate programs written in high-level languages to efficient executable code</a:t>
            </a:r>
          </a:p>
          <a:p>
            <a:endParaRPr lang="en-US" dirty="0" smtClean="0"/>
          </a:p>
          <a:p>
            <a:pPr eaLnBrk="1" hangingPunct="1"/>
            <a:r>
              <a:rPr lang="en-US" dirty="0" smtClean="0"/>
              <a:t>A program that reads a program written in one language and translates it into another language.</a:t>
            </a:r>
          </a:p>
          <a:p>
            <a:pPr eaLnBrk="1" hangingPunct="1"/>
            <a:r>
              <a:rPr lang="en-US" dirty="0" smtClean="0"/>
              <a:t>As an important part of this translation process, the compiler reports to its user the presence of errors in the source program.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Traditionally, compilers go from high-level languages to low-level languages.</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5</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2200" dirty="0" smtClean="0"/>
              <a:t>Programming problems are easier to solve in high-level languages</a:t>
            </a:r>
          </a:p>
          <a:p>
            <a:pPr lvl="1" eaLnBrk="1" hangingPunct="1"/>
            <a:r>
              <a:rPr lang="en-US" sz="2000" dirty="0" smtClean="0"/>
              <a:t>Languages closer to the level of the problem domain, e.g.,</a:t>
            </a:r>
          </a:p>
          <a:p>
            <a:pPr lvl="2" eaLnBrk="1" hangingPunct="1"/>
            <a:r>
              <a:rPr lang="en-US" sz="2000" dirty="0" err="1" smtClean="0"/>
              <a:t>SmallTalk</a:t>
            </a:r>
            <a:r>
              <a:rPr lang="en-US" sz="2000" dirty="0" smtClean="0"/>
              <a:t>: OO programming</a:t>
            </a:r>
          </a:p>
          <a:p>
            <a:pPr lvl="2" eaLnBrk="1" hangingPunct="1"/>
            <a:r>
              <a:rPr lang="en-US" sz="2000" dirty="0" smtClean="0"/>
              <a:t>JavaScript: Web pages</a:t>
            </a:r>
          </a:p>
          <a:p>
            <a:pPr lvl="2" eaLnBrk="1" hangingPunct="1"/>
            <a:endParaRPr lang="en-US" sz="2000" dirty="0" smtClean="0"/>
          </a:p>
          <a:p>
            <a:pPr eaLnBrk="1" hangingPunct="1"/>
            <a:r>
              <a:rPr lang="en-US" sz="2200" dirty="0" smtClean="0"/>
              <a:t>Solutions are usually more efficient (faster, smaller) when written in machine language</a:t>
            </a:r>
          </a:p>
          <a:p>
            <a:pPr lvl="1" eaLnBrk="1" hangingPunct="1"/>
            <a:r>
              <a:rPr lang="en-US" sz="2000" dirty="0" smtClean="0"/>
              <a:t>Language that reflects to the cycle-by-cycle working of a processor</a:t>
            </a:r>
          </a:p>
          <a:p>
            <a:pPr eaLnBrk="1" hangingPunct="1"/>
            <a:endParaRPr lang="en-US" sz="2200" dirty="0" smtClean="0"/>
          </a:p>
          <a:p>
            <a:pPr eaLnBrk="1" hangingPunct="1"/>
            <a:r>
              <a:rPr lang="en-US" sz="2200" dirty="0" smtClean="0"/>
              <a:t>Compilers are the bridges:</a:t>
            </a:r>
          </a:p>
          <a:p>
            <a:pPr lvl="1" eaLnBrk="1" hangingPunct="1"/>
            <a:r>
              <a:rPr lang="en-US" sz="2000" dirty="0" smtClean="0"/>
              <a:t>Tools to translate programs written in high-level languages to efficient executable code</a:t>
            </a:r>
          </a:p>
          <a:p>
            <a:endParaRPr lang="en-US" dirty="0" smtClean="0"/>
          </a:p>
          <a:p>
            <a:pPr eaLnBrk="1" hangingPunct="1"/>
            <a:r>
              <a:rPr lang="en-US" dirty="0" smtClean="0"/>
              <a:t>A program that reads a program written in one language and translates it into another language.</a:t>
            </a:r>
          </a:p>
          <a:p>
            <a:pPr eaLnBrk="1" hangingPunct="1"/>
            <a:r>
              <a:rPr lang="en-US" dirty="0" smtClean="0"/>
              <a:t>As an important part of this translation process, the compiler reports to its user the presence of errors in the source program.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Traditionally, compilers go from high-level languages to low-level languages.</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6</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smtClean="0">
                <a:solidFill>
                  <a:schemeClr val="tx1"/>
                </a:solidFill>
                <a:effectLst/>
                <a:latin typeface="+mn-lt"/>
                <a:ea typeface="+mn-ea"/>
                <a:cs typeface="+mn-cs"/>
              </a:rPr>
              <a:t>An interpreter converts high level language into low level machine language, just like a compiler. But they are different in the way they read the input. The Compiler in one go reads the inputs, does the processing and executes the source code whereas the interpreter does the same line by line. Compiler scans the entire program and translates it as a whole into machine code whereas an interpreter translates the program one statement at a time. Interpreted programs are usually slower with respect to compiled ones.</a:t>
            </a:r>
            <a:r>
              <a:rPr lang="en-GB" dirty="0" smtClean="0"/>
              <a:t/>
            </a:r>
            <a:br>
              <a:rPr lang="en-GB" dirty="0" smtClean="0"/>
            </a:br>
            <a:endParaRPr lang="en-GB" dirty="0"/>
          </a:p>
        </p:txBody>
      </p:sp>
      <p:sp>
        <p:nvSpPr>
          <p:cNvPr id="4" name="Slide Number Placeholder 3"/>
          <p:cNvSpPr>
            <a:spLocks noGrp="1"/>
          </p:cNvSpPr>
          <p:nvPr>
            <p:ph type="sldNum" sz="quarter" idx="10"/>
          </p:nvPr>
        </p:nvSpPr>
        <p:spPr/>
        <p:txBody>
          <a:bodyPr/>
          <a:lstStyle/>
          <a:p>
            <a:fld id="{387829CF-F3B1-402F-BC88-89CA5E9C5F3F}" type="slidenum">
              <a:rPr lang="en-US" smtClean="0"/>
              <a:t>7</a:t>
            </a:fld>
            <a:endParaRPr lang="en-US"/>
          </a:p>
        </p:txBody>
      </p:sp>
    </p:spTree>
    <p:extLst>
      <p:ext uri="{BB962C8B-B14F-4D97-AF65-F5344CB8AC3E}">
        <p14:creationId xmlns:p14="http://schemas.microsoft.com/office/powerpoint/2010/main" val="1519472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2200" dirty="0" smtClean="0"/>
              <a:t>Programming problems are easier to solve in high-level languages</a:t>
            </a:r>
          </a:p>
          <a:p>
            <a:pPr lvl="1" eaLnBrk="1" hangingPunct="1"/>
            <a:r>
              <a:rPr lang="en-US" sz="2000" dirty="0" smtClean="0"/>
              <a:t>Languages closer to the level of the problem domain, e.g.,</a:t>
            </a:r>
          </a:p>
          <a:p>
            <a:pPr lvl="2" eaLnBrk="1" hangingPunct="1"/>
            <a:r>
              <a:rPr lang="en-US" sz="2000" dirty="0" err="1" smtClean="0"/>
              <a:t>SmallTalk</a:t>
            </a:r>
            <a:r>
              <a:rPr lang="en-US" sz="2000" dirty="0" smtClean="0"/>
              <a:t>: OO programming</a:t>
            </a:r>
          </a:p>
          <a:p>
            <a:pPr lvl="2" eaLnBrk="1" hangingPunct="1"/>
            <a:r>
              <a:rPr lang="en-US" sz="2000" dirty="0" smtClean="0"/>
              <a:t>JavaScript: Web pages</a:t>
            </a:r>
          </a:p>
          <a:p>
            <a:pPr lvl="2" eaLnBrk="1" hangingPunct="1"/>
            <a:endParaRPr lang="en-US" sz="2000" dirty="0" smtClean="0"/>
          </a:p>
          <a:p>
            <a:pPr eaLnBrk="1" hangingPunct="1"/>
            <a:r>
              <a:rPr lang="en-US" sz="2200" dirty="0" smtClean="0"/>
              <a:t>Solutions are usually more efficient (faster, smaller) when written in machine language</a:t>
            </a:r>
          </a:p>
          <a:p>
            <a:pPr lvl="1" eaLnBrk="1" hangingPunct="1"/>
            <a:r>
              <a:rPr lang="en-US" sz="2000" dirty="0" smtClean="0"/>
              <a:t>Language that reflects to the cycle-by-cycle working of a processor</a:t>
            </a:r>
          </a:p>
          <a:p>
            <a:pPr eaLnBrk="1" hangingPunct="1"/>
            <a:endParaRPr lang="en-US" sz="2200" dirty="0" smtClean="0"/>
          </a:p>
          <a:p>
            <a:pPr eaLnBrk="1" hangingPunct="1"/>
            <a:r>
              <a:rPr lang="en-US" sz="2200" dirty="0" smtClean="0"/>
              <a:t>Compilers are the bridges:</a:t>
            </a:r>
          </a:p>
          <a:p>
            <a:pPr lvl="1" eaLnBrk="1" hangingPunct="1"/>
            <a:r>
              <a:rPr lang="en-US" sz="2000" dirty="0" smtClean="0"/>
              <a:t>Tools to translate programs written in high-level languages to efficient executable code</a:t>
            </a:r>
          </a:p>
          <a:p>
            <a:endParaRPr lang="en-US" dirty="0" smtClean="0"/>
          </a:p>
          <a:p>
            <a:pPr eaLnBrk="1" hangingPunct="1"/>
            <a:r>
              <a:rPr lang="en-US" dirty="0" smtClean="0"/>
              <a:t>A program that reads a program written in one language and translates it into another language.</a:t>
            </a:r>
          </a:p>
          <a:p>
            <a:pPr eaLnBrk="1" hangingPunct="1"/>
            <a:r>
              <a:rPr lang="en-US" dirty="0" smtClean="0"/>
              <a:t>As an important part of this translation process, the compiler reports to its user the presence of errors in the source program.</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Traditionally, compilers go from high-level languages to low-level languages.</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10</a:t>
            </a:fld>
            <a:endParaRPr lang="en-US"/>
          </a:p>
        </p:txBody>
      </p:sp>
    </p:spTree>
    <p:extLst>
      <p:ext uri="{BB962C8B-B14F-4D97-AF65-F5344CB8AC3E}">
        <p14:creationId xmlns:p14="http://schemas.microsoft.com/office/powerpoint/2010/main" val="3872921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11</a:t>
            </a:fld>
            <a:endParaRPr lang="en-US"/>
          </a:p>
        </p:txBody>
      </p:sp>
    </p:spTree>
    <p:extLst>
      <p:ext uri="{BB962C8B-B14F-4D97-AF65-F5344CB8AC3E}">
        <p14:creationId xmlns:p14="http://schemas.microsoft.com/office/powerpoint/2010/main" val="35284196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13</a:t>
            </a:fld>
            <a:endParaRPr lang="en-US"/>
          </a:p>
        </p:txBody>
      </p:sp>
    </p:spTree>
    <p:extLst>
      <p:ext uri="{BB962C8B-B14F-4D97-AF65-F5344CB8AC3E}">
        <p14:creationId xmlns:p14="http://schemas.microsoft.com/office/powerpoint/2010/main" val="18237729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pPr lvl="1"/>
            <a:endParaRPr lang="en-US" dirty="0" smtClean="0"/>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important</a:t>
            </a:r>
          </a:p>
          <a:p>
            <a:pPr lvl="1">
              <a:lnSpc>
                <a:spcPct val="100000"/>
              </a:lnSpc>
              <a:spcBef>
                <a:spcPts val="600"/>
              </a:spcBef>
              <a:spcAft>
                <a:spcPts val="0"/>
              </a:spcAft>
              <a:buClr>
                <a:srgbClr val="FE8637"/>
              </a:buClr>
              <a:buSzPct val="70000"/>
            </a:pPr>
            <a:r>
              <a:rPr lang="en-US" sz="2200" dirty="0" smtClean="0">
                <a:solidFill>
                  <a:prstClr val="black"/>
                </a:solidFill>
                <a:latin typeface="Century Schoolbook"/>
              </a:rPr>
              <a:t>Responsible for many aspects of system performance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Attaining performance has become more difficult over time</a:t>
            </a:r>
          </a:p>
          <a:p>
            <a:pPr marL="274320" lvl="0" indent="-274320">
              <a:lnSpc>
                <a:spcPct val="100000"/>
              </a:lnSpc>
              <a:spcBef>
                <a:spcPts val="600"/>
              </a:spcBef>
              <a:spcAft>
                <a:spcPts val="0"/>
              </a:spcAft>
              <a:buClr>
                <a:srgbClr val="FE8637"/>
              </a:buClr>
              <a:buSzPct val="70000"/>
              <a:buFont typeface="Wingdings"/>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interesting</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Compilers include many applications of theory to practice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Writing a compiler exposes algorithmic &amp; engineering issues</a:t>
            </a:r>
          </a:p>
          <a:p>
            <a:pPr lvl="0">
              <a:lnSpc>
                <a:spcPct val="100000"/>
              </a:lnSpc>
              <a:spcBef>
                <a:spcPts val="600"/>
              </a:spcBef>
              <a:spcAft>
                <a:spcPts val="0"/>
              </a:spcAft>
              <a:buClr>
                <a:srgbClr val="FE8637"/>
              </a:buClr>
              <a:buSzPct val="70000"/>
              <a:buFont typeface="Arial" panose="020B0604020202020204" pitchFamily="34" charset="0"/>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everywhere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Many practical applications have embedded languages Commands, macros, formatting tags</a:t>
            </a:r>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14</a:t>
            </a:fld>
            <a:endParaRPr lang="en-US"/>
          </a:p>
        </p:txBody>
      </p:sp>
    </p:spTree>
    <p:extLst>
      <p:ext uri="{BB962C8B-B14F-4D97-AF65-F5344CB8AC3E}">
        <p14:creationId xmlns:p14="http://schemas.microsoft.com/office/powerpoint/2010/main" val="39711810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pPr lvl="1"/>
            <a:endParaRPr lang="en-US" dirty="0" smtClean="0"/>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important</a:t>
            </a:r>
          </a:p>
          <a:p>
            <a:pPr lvl="1">
              <a:lnSpc>
                <a:spcPct val="100000"/>
              </a:lnSpc>
              <a:spcBef>
                <a:spcPts val="600"/>
              </a:spcBef>
              <a:spcAft>
                <a:spcPts val="0"/>
              </a:spcAft>
              <a:buClr>
                <a:srgbClr val="FE8637"/>
              </a:buClr>
              <a:buSzPct val="70000"/>
            </a:pPr>
            <a:r>
              <a:rPr lang="en-US" sz="2200" dirty="0" smtClean="0">
                <a:solidFill>
                  <a:prstClr val="black"/>
                </a:solidFill>
                <a:latin typeface="Century Schoolbook"/>
              </a:rPr>
              <a:t>Responsible for many aspects of system performance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Attaining performance has become more difficult over time</a:t>
            </a:r>
          </a:p>
          <a:p>
            <a:pPr marL="274320" lvl="0" indent="-274320">
              <a:lnSpc>
                <a:spcPct val="100000"/>
              </a:lnSpc>
              <a:spcBef>
                <a:spcPts val="600"/>
              </a:spcBef>
              <a:spcAft>
                <a:spcPts val="0"/>
              </a:spcAft>
              <a:buClr>
                <a:srgbClr val="FE8637"/>
              </a:buClr>
              <a:buSzPct val="70000"/>
              <a:buFont typeface="Wingdings"/>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interesting</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Compilers include many applications of theory to practice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Writing a compiler exposes algorithmic &amp; engineering issues</a:t>
            </a:r>
          </a:p>
          <a:p>
            <a:pPr lvl="0">
              <a:lnSpc>
                <a:spcPct val="100000"/>
              </a:lnSpc>
              <a:spcBef>
                <a:spcPts val="600"/>
              </a:spcBef>
              <a:spcAft>
                <a:spcPts val="0"/>
              </a:spcAft>
              <a:buClr>
                <a:srgbClr val="FE8637"/>
              </a:buClr>
              <a:buSzPct val="70000"/>
              <a:buFont typeface="Arial" panose="020B0604020202020204" pitchFamily="34" charset="0"/>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everywhere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Many practical applications have embedded languages Commands, macros, formatting tags</a:t>
            </a:r>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15</a:t>
            </a:fld>
            <a:endParaRPr lang="en-US"/>
          </a:p>
        </p:txBody>
      </p:sp>
    </p:spTree>
    <p:extLst>
      <p:ext uri="{BB962C8B-B14F-4D97-AF65-F5344CB8AC3E}">
        <p14:creationId xmlns:p14="http://schemas.microsoft.com/office/powerpoint/2010/main" val="34088811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pPr lvl="1"/>
            <a:endParaRPr lang="en-US" dirty="0" smtClean="0"/>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important</a:t>
            </a:r>
          </a:p>
          <a:p>
            <a:pPr lvl="1">
              <a:lnSpc>
                <a:spcPct val="100000"/>
              </a:lnSpc>
              <a:spcBef>
                <a:spcPts val="600"/>
              </a:spcBef>
              <a:spcAft>
                <a:spcPts val="0"/>
              </a:spcAft>
              <a:buClr>
                <a:srgbClr val="FE8637"/>
              </a:buClr>
              <a:buSzPct val="70000"/>
            </a:pPr>
            <a:r>
              <a:rPr lang="en-US" sz="2200" dirty="0" smtClean="0">
                <a:solidFill>
                  <a:prstClr val="black"/>
                </a:solidFill>
                <a:latin typeface="Century Schoolbook"/>
              </a:rPr>
              <a:t>Responsible for many aspects of system performance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Attaining performance has become more difficult over time</a:t>
            </a:r>
          </a:p>
          <a:p>
            <a:pPr marL="274320" lvl="0" indent="-274320">
              <a:lnSpc>
                <a:spcPct val="100000"/>
              </a:lnSpc>
              <a:spcBef>
                <a:spcPts val="600"/>
              </a:spcBef>
              <a:spcAft>
                <a:spcPts val="0"/>
              </a:spcAft>
              <a:buClr>
                <a:srgbClr val="FE8637"/>
              </a:buClr>
              <a:buSzPct val="70000"/>
              <a:buFont typeface="Wingdings"/>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interesting</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Compilers include many applications of theory to practice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Writing a compiler exposes algorithmic &amp; engineering issues</a:t>
            </a:r>
          </a:p>
          <a:p>
            <a:pPr lvl="0">
              <a:lnSpc>
                <a:spcPct val="100000"/>
              </a:lnSpc>
              <a:spcBef>
                <a:spcPts val="600"/>
              </a:spcBef>
              <a:spcAft>
                <a:spcPts val="0"/>
              </a:spcAft>
              <a:buClr>
                <a:srgbClr val="FE8637"/>
              </a:buClr>
              <a:buSzPct val="70000"/>
              <a:buFont typeface="Arial" panose="020B0604020202020204" pitchFamily="34" charset="0"/>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 are everywhere</a:t>
            </a:r>
          </a:p>
          <a:p>
            <a:pPr lvl="1">
              <a:lnSpc>
                <a:spcPct val="100000"/>
              </a:lnSpc>
              <a:spcBef>
                <a:spcPts val="600"/>
              </a:spcBef>
              <a:spcAft>
                <a:spcPts val="0"/>
              </a:spcAft>
              <a:buClr>
                <a:srgbClr val="FE8637"/>
              </a:buClr>
              <a:buSzPct val="70000"/>
              <a:buFont typeface="Arial" panose="020B0604020202020204" pitchFamily="34" charset="0"/>
              <a:buChar char="•"/>
            </a:pPr>
            <a:r>
              <a:rPr lang="en-US" sz="2200" dirty="0" smtClean="0">
                <a:solidFill>
                  <a:prstClr val="black"/>
                </a:solidFill>
                <a:latin typeface="Century Schoolbook"/>
              </a:rPr>
              <a:t>Many practical applications have embedded languages Commands, macros, formatting tags</a:t>
            </a:r>
          </a:p>
          <a:p>
            <a:pPr lvl="1"/>
            <a:endParaRPr lang="en-US" dirty="0" smtClean="0"/>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16</a:t>
            </a:fld>
            <a:endParaRPr lang="en-US"/>
          </a:p>
        </p:txBody>
      </p:sp>
    </p:spTree>
    <p:extLst>
      <p:ext uri="{BB962C8B-B14F-4D97-AF65-F5344CB8AC3E}">
        <p14:creationId xmlns:p14="http://schemas.microsoft.com/office/powerpoint/2010/main" val="5808832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eaLnBrk="1" hangingPunct="1"/>
            <a:r>
              <a:rPr lang="en-US" sz="2000" b="1" dirty="0" smtClean="0"/>
              <a:t>Analysis</a:t>
            </a:r>
          </a:p>
          <a:p>
            <a:pPr lvl="2" eaLnBrk="1" hangingPunct="1"/>
            <a:r>
              <a:rPr lang="en-US" sz="2000" dirty="0" smtClean="0"/>
              <a:t>Breaks up the source program into constituents and creates an intermediate representation of the source program</a:t>
            </a:r>
          </a:p>
          <a:p>
            <a:pPr lvl="1" eaLnBrk="1" hangingPunct="1"/>
            <a:r>
              <a:rPr lang="en-US" sz="2000" b="1" dirty="0" smtClean="0"/>
              <a:t>Synthesis</a:t>
            </a:r>
          </a:p>
          <a:p>
            <a:pPr lvl="2" eaLnBrk="1" hangingPunct="1"/>
            <a:r>
              <a:rPr lang="en-US" sz="2000" dirty="0" smtClean="0"/>
              <a:t>Constructs the target program from the intermediate representation</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18</a:t>
            </a:fld>
            <a:endParaRPr lang="en-US"/>
          </a:p>
        </p:txBody>
      </p:sp>
    </p:spTree>
    <p:extLst>
      <p:ext uri="{BB962C8B-B14F-4D97-AF65-F5344CB8AC3E}">
        <p14:creationId xmlns:p14="http://schemas.microsoft.com/office/powerpoint/2010/main" val="17912286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21</a:t>
            </a:fld>
            <a:endParaRPr lang="en-US"/>
          </a:p>
        </p:txBody>
      </p:sp>
    </p:spTree>
    <p:extLst>
      <p:ext uri="{BB962C8B-B14F-4D97-AF65-F5344CB8AC3E}">
        <p14:creationId xmlns:p14="http://schemas.microsoft.com/office/powerpoint/2010/main" val="18237729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22</a:t>
            </a:fld>
            <a:endParaRPr lang="en-US"/>
          </a:p>
        </p:txBody>
      </p:sp>
    </p:spTree>
    <p:extLst>
      <p:ext uri="{BB962C8B-B14F-4D97-AF65-F5344CB8AC3E}">
        <p14:creationId xmlns:p14="http://schemas.microsoft.com/office/powerpoint/2010/main" val="3740106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23</a:t>
            </a:fld>
            <a:endParaRPr lang="en-US"/>
          </a:p>
        </p:txBody>
      </p:sp>
    </p:spTree>
    <p:extLst>
      <p:ext uri="{BB962C8B-B14F-4D97-AF65-F5344CB8AC3E}">
        <p14:creationId xmlns:p14="http://schemas.microsoft.com/office/powerpoint/2010/main" val="32287454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smtClean="0"/>
              <a:t>, the phrase “x = +y", which is recognized as four tokens, representing “x", “=“ and “+" and “y", has the structure </a:t>
            </a:r>
            <a:r>
              <a:rPr lang="en-US" sz="1200" b="1" dirty="0" smtClean="0"/>
              <a:t>=(x,+(y))</a:t>
            </a:r>
            <a:r>
              <a:rPr lang="en-US" sz="1200" dirty="0" smtClean="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24</a:t>
            </a:fld>
            <a:endParaRPr lang="en-US"/>
          </a:p>
        </p:txBody>
      </p:sp>
    </p:spTree>
    <p:extLst>
      <p:ext uri="{BB962C8B-B14F-4D97-AF65-F5344CB8AC3E}">
        <p14:creationId xmlns:p14="http://schemas.microsoft.com/office/powerpoint/2010/main" val="1859034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smtClean="0"/>
              <a:t>, the phrase “x = +y", which is recognized as four tokens, representing “x", “=“ and “+" and “y", has the structure </a:t>
            </a:r>
            <a:r>
              <a:rPr lang="en-US" sz="1200" b="1" dirty="0" smtClean="0"/>
              <a:t>=(x,+(y))</a:t>
            </a:r>
            <a:r>
              <a:rPr lang="en-US" sz="1200" dirty="0" smtClean="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25</a:t>
            </a:fld>
            <a:endParaRPr lang="en-US"/>
          </a:p>
        </p:txBody>
      </p:sp>
    </p:spTree>
    <p:extLst>
      <p:ext uri="{BB962C8B-B14F-4D97-AF65-F5344CB8AC3E}">
        <p14:creationId xmlns:p14="http://schemas.microsoft.com/office/powerpoint/2010/main" val="12088619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sz="1200" dirty="0" smtClean="0"/>
              <a:t>, the phrase “x = +y", which is recognized as four tokens, representing “x", “=“ and “+" and “y", has the structure </a:t>
            </a:r>
            <a:r>
              <a:rPr lang="en-US" sz="1200" b="1" dirty="0" smtClean="0"/>
              <a:t>=(x,+(y))</a:t>
            </a:r>
            <a:r>
              <a:rPr lang="en-US" sz="1200" dirty="0" smtClean="0"/>
              <a:t>, i.e., an assignment expression, that operates on “x" and the expression “+(y)".</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26</a:t>
            </a:fld>
            <a:endParaRPr lang="en-US"/>
          </a:p>
        </p:txBody>
      </p:sp>
    </p:spTree>
    <p:extLst>
      <p:ext uri="{BB962C8B-B14F-4D97-AF65-F5344CB8AC3E}">
        <p14:creationId xmlns:p14="http://schemas.microsoft.com/office/powerpoint/2010/main" val="1083313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27</a:t>
            </a:fld>
            <a:endParaRPr lang="en-US"/>
          </a:p>
        </p:txBody>
      </p:sp>
    </p:spTree>
    <p:extLst>
      <p:ext uri="{BB962C8B-B14F-4D97-AF65-F5344CB8AC3E}">
        <p14:creationId xmlns:p14="http://schemas.microsoft.com/office/powerpoint/2010/main" val="27846083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smtClean="0">
                <a:solidFill>
                  <a:schemeClr val="tx1"/>
                </a:solidFill>
                <a:latin typeface="+mn-lt"/>
                <a:ea typeface="+mn-ea"/>
                <a:cs typeface="+mn-cs"/>
              </a:rPr>
              <a:t>Suppose that position, initial,</a:t>
            </a:r>
          </a:p>
          <a:p>
            <a:r>
              <a:rPr lang="en-GB" sz="1200" b="0" i="0" u="none" strike="noStrike" kern="1200" baseline="0" dirty="0" smtClean="0">
                <a:solidFill>
                  <a:schemeClr val="tx1"/>
                </a:solidFill>
                <a:latin typeface="+mn-lt"/>
                <a:ea typeface="+mn-ea"/>
                <a:cs typeface="+mn-cs"/>
              </a:rPr>
              <a:t>and rate have been declared to be</a:t>
            </a:r>
          </a:p>
          <a:p>
            <a:r>
              <a:rPr lang="en-GB" sz="1200" b="0" i="0" u="none" strike="noStrike" kern="1200" baseline="0" dirty="0" smtClean="0">
                <a:solidFill>
                  <a:schemeClr val="tx1"/>
                </a:solidFill>
                <a:latin typeface="+mn-lt"/>
                <a:ea typeface="+mn-ea"/>
                <a:cs typeface="+mn-cs"/>
              </a:rPr>
              <a:t>floating-point numbers, and that the</a:t>
            </a:r>
          </a:p>
          <a:p>
            <a:r>
              <a:rPr lang="en-GB" sz="1200" b="0" i="0" u="none" strike="noStrike" kern="1200" baseline="0" dirty="0" smtClean="0">
                <a:solidFill>
                  <a:schemeClr val="tx1"/>
                </a:solidFill>
                <a:latin typeface="+mn-lt"/>
                <a:ea typeface="+mn-ea"/>
                <a:cs typeface="+mn-cs"/>
              </a:rPr>
              <a:t>lexeme 60 by itself forms an integer.</a:t>
            </a:r>
          </a:p>
          <a:p>
            <a:r>
              <a:rPr lang="en-GB" sz="1200" b="0" i="0" u="none" strike="noStrike" kern="1200" baseline="0" dirty="0" smtClean="0">
                <a:solidFill>
                  <a:schemeClr val="tx1"/>
                </a:solidFill>
                <a:latin typeface="+mn-lt"/>
                <a:ea typeface="+mn-ea"/>
                <a:cs typeface="+mn-cs"/>
              </a:rPr>
              <a:t>The type checker in the semantic</a:t>
            </a:r>
          </a:p>
          <a:p>
            <a:r>
              <a:rPr lang="en-GB" sz="1200" b="0" i="0" u="none" strike="noStrike" kern="1200" baseline="0" dirty="0" err="1" smtClean="0">
                <a:solidFill>
                  <a:schemeClr val="tx1"/>
                </a:solidFill>
                <a:latin typeface="+mn-lt"/>
                <a:ea typeface="+mn-ea"/>
                <a:cs typeface="+mn-cs"/>
              </a:rPr>
              <a:t>analyzer</a:t>
            </a:r>
            <a:r>
              <a:rPr lang="en-GB" sz="1200" b="0" i="0" u="none" strike="noStrike" kern="1200" baseline="0" dirty="0" smtClean="0">
                <a:solidFill>
                  <a:schemeClr val="tx1"/>
                </a:solidFill>
                <a:latin typeface="+mn-lt"/>
                <a:ea typeface="+mn-ea"/>
                <a:cs typeface="+mn-cs"/>
              </a:rPr>
              <a:t> discovers that the operator * is</a:t>
            </a:r>
          </a:p>
          <a:p>
            <a:r>
              <a:rPr lang="en-GB" sz="1200" b="0" i="0" u="none" strike="noStrike" kern="1200" baseline="0" dirty="0" smtClean="0">
                <a:solidFill>
                  <a:schemeClr val="tx1"/>
                </a:solidFill>
                <a:latin typeface="+mn-lt"/>
                <a:ea typeface="+mn-ea"/>
                <a:cs typeface="+mn-cs"/>
              </a:rPr>
              <a:t>applied to a floating-point number rate</a:t>
            </a:r>
          </a:p>
          <a:p>
            <a:r>
              <a:rPr lang="en-GB" sz="1200" b="0" i="0" u="none" strike="noStrike" kern="1200" baseline="0" dirty="0" smtClean="0">
                <a:solidFill>
                  <a:schemeClr val="tx1"/>
                </a:solidFill>
                <a:latin typeface="+mn-lt"/>
                <a:ea typeface="+mn-ea"/>
                <a:cs typeface="+mn-cs"/>
              </a:rPr>
              <a:t>and an integer 60.</a:t>
            </a:r>
          </a:p>
          <a:p>
            <a:r>
              <a:rPr lang="en-GB" sz="1200" b="0" i="0" u="none" strike="noStrike" kern="1200" baseline="0" dirty="0" smtClean="0">
                <a:solidFill>
                  <a:schemeClr val="tx1"/>
                </a:solidFill>
                <a:latin typeface="+mn-lt"/>
                <a:ea typeface="+mn-ea"/>
                <a:cs typeface="+mn-cs"/>
              </a:rPr>
              <a:t>In this case, the integer may be</a:t>
            </a:r>
          </a:p>
          <a:p>
            <a:r>
              <a:rPr lang="en-GB" sz="1200" b="0" i="0" u="none" strike="noStrike" kern="1200" baseline="0" dirty="0" smtClean="0">
                <a:solidFill>
                  <a:schemeClr val="tx1"/>
                </a:solidFill>
                <a:latin typeface="+mn-lt"/>
                <a:ea typeface="+mn-ea"/>
                <a:cs typeface="+mn-cs"/>
              </a:rPr>
              <a:t>converted into a floating-point number</a:t>
            </a:r>
            <a:endParaRPr lang="en-GB" sz="1200" dirty="0" smtClean="0">
              <a:solidFill>
                <a:prstClr val="black"/>
              </a:solidFill>
              <a:latin typeface="Century Schoolbook"/>
            </a:endParaRPr>
          </a:p>
        </p:txBody>
      </p:sp>
      <p:sp>
        <p:nvSpPr>
          <p:cNvPr id="4" name="Slide Number Placeholder 3"/>
          <p:cNvSpPr>
            <a:spLocks noGrp="1"/>
          </p:cNvSpPr>
          <p:nvPr>
            <p:ph type="sldNum" sz="quarter" idx="10"/>
          </p:nvPr>
        </p:nvSpPr>
        <p:spPr/>
        <p:txBody>
          <a:bodyPr/>
          <a:lstStyle/>
          <a:p>
            <a:fld id="{387829CF-F3B1-402F-BC88-89CA5E9C5F3F}" type="slidenum">
              <a:rPr lang="en-US" smtClean="0"/>
              <a:t>28</a:t>
            </a:fld>
            <a:endParaRPr lang="en-US"/>
          </a:p>
        </p:txBody>
      </p:sp>
    </p:spTree>
    <p:extLst>
      <p:ext uri="{BB962C8B-B14F-4D97-AF65-F5344CB8AC3E}">
        <p14:creationId xmlns:p14="http://schemas.microsoft.com/office/powerpoint/2010/main" val="19836302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29</a:t>
            </a:fld>
            <a:endParaRPr lang="en-US"/>
          </a:p>
        </p:txBody>
      </p:sp>
    </p:spTree>
    <p:extLst>
      <p:ext uri="{BB962C8B-B14F-4D97-AF65-F5344CB8AC3E}">
        <p14:creationId xmlns:p14="http://schemas.microsoft.com/office/powerpoint/2010/main" val="18488288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30</a:t>
            </a:fld>
            <a:endParaRPr lang="en-US"/>
          </a:p>
        </p:txBody>
      </p:sp>
    </p:spTree>
    <p:extLst>
      <p:ext uri="{BB962C8B-B14F-4D97-AF65-F5344CB8AC3E}">
        <p14:creationId xmlns:p14="http://schemas.microsoft.com/office/powerpoint/2010/main" val="38455568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31</a:t>
            </a:fld>
            <a:endParaRPr lang="en-US"/>
          </a:p>
        </p:txBody>
      </p:sp>
    </p:spTree>
    <p:extLst>
      <p:ext uri="{BB962C8B-B14F-4D97-AF65-F5344CB8AC3E}">
        <p14:creationId xmlns:p14="http://schemas.microsoft.com/office/powerpoint/2010/main" val="2802279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32</a:t>
            </a:fld>
            <a:endParaRPr lang="en-US"/>
          </a:p>
        </p:txBody>
      </p:sp>
    </p:spTree>
    <p:extLst>
      <p:ext uri="{BB962C8B-B14F-4D97-AF65-F5344CB8AC3E}">
        <p14:creationId xmlns:p14="http://schemas.microsoft.com/office/powerpoint/2010/main" val="38602935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33</a:t>
            </a:fld>
            <a:endParaRPr lang="en-US"/>
          </a:p>
        </p:txBody>
      </p:sp>
    </p:spTree>
    <p:extLst>
      <p:ext uri="{BB962C8B-B14F-4D97-AF65-F5344CB8AC3E}">
        <p14:creationId xmlns:p14="http://schemas.microsoft.com/office/powerpoint/2010/main" val="12352431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34</a:t>
            </a:fld>
            <a:endParaRPr lang="en-US"/>
          </a:p>
        </p:txBody>
      </p:sp>
    </p:spTree>
    <p:extLst>
      <p:ext uri="{BB962C8B-B14F-4D97-AF65-F5344CB8AC3E}">
        <p14:creationId xmlns:p14="http://schemas.microsoft.com/office/powerpoint/2010/main" val="33469773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35</a:t>
            </a:fld>
            <a:endParaRPr lang="en-US"/>
          </a:p>
        </p:txBody>
      </p:sp>
    </p:spTree>
    <p:extLst>
      <p:ext uri="{BB962C8B-B14F-4D97-AF65-F5344CB8AC3E}">
        <p14:creationId xmlns:p14="http://schemas.microsoft.com/office/powerpoint/2010/main" val="39210034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36</a:t>
            </a:fld>
            <a:endParaRPr lang="en-US"/>
          </a:p>
        </p:txBody>
      </p:sp>
    </p:spTree>
    <p:extLst>
      <p:ext uri="{BB962C8B-B14F-4D97-AF65-F5344CB8AC3E}">
        <p14:creationId xmlns:p14="http://schemas.microsoft.com/office/powerpoint/2010/main" val="15026344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37</a:t>
            </a:fld>
            <a:endParaRPr lang="en-US"/>
          </a:p>
        </p:txBody>
      </p:sp>
    </p:spTree>
    <p:extLst>
      <p:ext uri="{BB962C8B-B14F-4D97-AF65-F5344CB8AC3E}">
        <p14:creationId xmlns:p14="http://schemas.microsoft.com/office/powerpoint/2010/main" val="36815538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38</a:t>
            </a:fld>
            <a:endParaRPr lang="en-US"/>
          </a:p>
        </p:txBody>
      </p:sp>
    </p:spTree>
    <p:extLst>
      <p:ext uri="{BB962C8B-B14F-4D97-AF65-F5344CB8AC3E}">
        <p14:creationId xmlns:p14="http://schemas.microsoft.com/office/powerpoint/2010/main" val="3400256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39</a:t>
            </a:fld>
            <a:endParaRPr lang="en-US"/>
          </a:p>
        </p:txBody>
      </p:sp>
    </p:spTree>
    <p:extLst>
      <p:ext uri="{BB962C8B-B14F-4D97-AF65-F5344CB8AC3E}">
        <p14:creationId xmlns:p14="http://schemas.microsoft.com/office/powerpoint/2010/main" val="399505574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40</a:t>
            </a:fld>
            <a:endParaRPr lang="en-US"/>
          </a:p>
        </p:txBody>
      </p:sp>
    </p:spTree>
    <p:extLst>
      <p:ext uri="{BB962C8B-B14F-4D97-AF65-F5344CB8AC3E}">
        <p14:creationId xmlns:p14="http://schemas.microsoft.com/office/powerpoint/2010/main" val="18065345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41</a:t>
            </a:fld>
            <a:endParaRPr lang="en-US"/>
          </a:p>
        </p:txBody>
      </p:sp>
    </p:spTree>
    <p:extLst>
      <p:ext uri="{BB962C8B-B14F-4D97-AF65-F5344CB8AC3E}">
        <p14:creationId xmlns:p14="http://schemas.microsoft.com/office/powerpoint/2010/main" val="1019696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42</a:t>
            </a:fld>
            <a:endParaRPr lang="en-US"/>
          </a:p>
        </p:txBody>
      </p:sp>
    </p:spTree>
    <p:extLst>
      <p:ext uri="{BB962C8B-B14F-4D97-AF65-F5344CB8AC3E}">
        <p14:creationId xmlns:p14="http://schemas.microsoft.com/office/powerpoint/2010/main" val="28873681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43</a:t>
            </a:fld>
            <a:endParaRPr lang="en-US"/>
          </a:p>
        </p:txBody>
      </p:sp>
    </p:spTree>
    <p:extLst>
      <p:ext uri="{BB962C8B-B14F-4D97-AF65-F5344CB8AC3E}">
        <p14:creationId xmlns:p14="http://schemas.microsoft.com/office/powerpoint/2010/main" val="38470492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44</a:t>
            </a:fld>
            <a:endParaRPr lang="en-US"/>
          </a:p>
        </p:txBody>
      </p:sp>
    </p:spTree>
    <p:extLst>
      <p:ext uri="{BB962C8B-B14F-4D97-AF65-F5344CB8AC3E}">
        <p14:creationId xmlns:p14="http://schemas.microsoft.com/office/powerpoint/2010/main" val="408242968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learn the process of translating a modern high-level language to executable code.</a:t>
            </a:r>
          </a:p>
          <a:p>
            <a:pPr lvl="1"/>
            <a:r>
              <a:rPr lang="en-US" dirty="0" smtClean="0"/>
              <a:t>Learn the fundamental techniques from lectures, text book.</a:t>
            </a:r>
          </a:p>
          <a:p>
            <a:pPr lvl="1"/>
            <a:r>
              <a:rPr lang="en-US" dirty="0" smtClean="0"/>
              <a:t>Apply these techniques in practice to construct a compiler for toy programming language.</a:t>
            </a:r>
          </a:p>
          <a:p>
            <a:endParaRPr lang="en-US" dirty="0"/>
          </a:p>
        </p:txBody>
      </p:sp>
      <p:sp>
        <p:nvSpPr>
          <p:cNvPr id="4" name="Slide Number Placeholder 3"/>
          <p:cNvSpPr>
            <a:spLocks noGrp="1"/>
          </p:cNvSpPr>
          <p:nvPr>
            <p:ph type="sldNum" sz="quarter" idx="10"/>
          </p:nvPr>
        </p:nvSpPr>
        <p:spPr/>
        <p:txBody>
          <a:bodyPr/>
          <a:lstStyle/>
          <a:p>
            <a:fld id="{387829CF-F3B1-402F-BC88-89CA5E9C5F3F}" type="slidenum">
              <a:rPr lang="en-US" smtClean="0"/>
              <a:t>45</a:t>
            </a:fld>
            <a:endParaRPr lang="en-US"/>
          </a:p>
        </p:txBody>
      </p:sp>
    </p:spTree>
    <p:extLst>
      <p:ext uri="{BB962C8B-B14F-4D97-AF65-F5344CB8AC3E}">
        <p14:creationId xmlns:p14="http://schemas.microsoft.com/office/powerpoint/2010/main" val="36936103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BDF68E2-58F2-4D09-BE8B-E3BD06533059}" type="datetimeFigureOut">
              <a:rPr lang="en-US" dirty="0"/>
              <a:t>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8FC5F6-F338-4AE4-BB23-26385BCFC423}" type="datetimeFigureOut">
              <a:rPr lang="en-US" dirty="0"/>
              <a:t>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9AB4D41-86C1-4908-B66A-0B50CEB3BF29}" type="datetimeFigureOut">
              <a:rPr lang="en-US" dirty="0"/>
              <a:t>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6426E2C-56C1-4E0D-A793-0088A7FDD37E}" type="datetimeFigureOut">
              <a:rPr lang="en-US" dirty="0"/>
              <a:t>2/15/2021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C39B41-D8B5-4052-B551-9B5525EAA8B6}" type="datetimeFigureOut">
              <a:rPr lang="en-US" dirty="0"/>
              <a:t>2/15/2021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2/15/2021</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2/15/2021</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2/15/2021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E2D6473-DF6D-4702-B328-E0DD40540A4E}" type="datetimeFigureOut">
              <a:rPr lang="en-US" dirty="0"/>
              <a:t>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6F7E3A-B166-407D-9866-32884E7D5B37}" type="datetimeFigureOut">
              <a:rPr lang="en-US" dirty="0"/>
              <a:t>2/15/2021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2/15/2021</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geeksforgeeks.org/compiler-design-tutorial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7200" b="1" dirty="0" smtClean="0">
                <a:solidFill>
                  <a:srgbClr val="CC3300"/>
                </a:solidFill>
                <a:latin typeface="Angsana New" panose="02020603050405020304" pitchFamily="18" charset="-34"/>
                <a:cs typeface="Angsana New" panose="02020603050405020304" pitchFamily="18" charset="-34"/>
              </a:rPr>
              <a:t>CSE-361:Compiler Design</a:t>
            </a:r>
            <a:endParaRPr lang="en-US" sz="7200" dirty="0">
              <a:latin typeface="Angsana New" panose="02020603050405020304" pitchFamily="18" charset="-34"/>
              <a:cs typeface="Angsana New" panose="02020603050405020304" pitchFamily="18" charset="-34"/>
            </a:endParaRPr>
          </a:p>
        </p:txBody>
      </p:sp>
      <p:sp>
        <p:nvSpPr>
          <p:cNvPr id="3" name="Subtitle 2"/>
          <p:cNvSpPr>
            <a:spLocks noGrp="1"/>
          </p:cNvSpPr>
          <p:nvPr>
            <p:ph type="subTitle" idx="1"/>
          </p:nvPr>
        </p:nvSpPr>
        <p:spPr/>
        <p:txBody>
          <a:bodyPr>
            <a:normAutofit fontScale="85000" lnSpcReduction="20000"/>
          </a:bodyPr>
          <a:lstStyle/>
          <a:p>
            <a:r>
              <a:rPr lang="en-US" b="1" dirty="0" smtClean="0"/>
              <a:t>TAHSINA HASHEM</a:t>
            </a:r>
          </a:p>
          <a:p>
            <a:r>
              <a:rPr lang="en-US" dirty="0" smtClean="0"/>
              <a:t>L</a:t>
            </a:r>
            <a:r>
              <a:rPr lang="en-US" cap="none" dirty="0" smtClean="0"/>
              <a:t>ecturer</a:t>
            </a:r>
          </a:p>
          <a:p>
            <a:r>
              <a:rPr lang="en-US" dirty="0" smtClean="0"/>
              <a:t>CSE,JU</a:t>
            </a:r>
            <a:endParaRPr lang="en-US" dirty="0"/>
          </a:p>
        </p:txBody>
      </p:sp>
    </p:spTree>
    <p:extLst>
      <p:ext uri="{BB962C8B-B14F-4D97-AF65-F5344CB8AC3E}">
        <p14:creationId xmlns:p14="http://schemas.microsoft.com/office/powerpoint/2010/main" val="117988386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Textbook</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Compilers</a:t>
            </a:r>
            <a:r>
              <a:rPr lang="en-US" sz="2400" dirty="0">
                <a:solidFill>
                  <a:prstClr val="black"/>
                </a:solidFill>
                <a:latin typeface="Century Schoolbook"/>
              </a:rPr>
              <a:t>: Principles, Techniques, and Tools </a:t>
            </a:r>
            <a:endParaRPr lang="en-US" sz="2400" dirty="0" smtClean="0">
              <a:solidFill>
                <a:prstClr val="black"/>
              </a:solidFill>
              <a:latin typeface="Century Schoolbook"/>
            </a:endParaRPr>
          </a:p>
          <a:p>
            <a:pPr marL="640080" lvl="1" indent="-274320">
              <a:lnSpc>
                <a:spcPct val="100000"/>
              </a:lnSpc>
              <a:spcBef>
                <a:spcPct val="20000"/>
              </a:spcBef>
              <a:spcAft>
                <a:spcPts val="0"/>
              </a:spcAft>
              <a:buClr>
                <a:srgbClr val="FE8637"/>
              </a:buClr>
              <a:buSzPct val="80000"/>
              <a:buFont typeface="Wingdings 2"/>
              <a:buChar char=""/>
            </a:pPr>
            <a:r>
              <a:rPr lang="en-US" sz="2400" dirty="0" err="1">
                <a:solidFill>
                  <a:prstClr val="black"/>
                </a:solidFill>
                <a:latin typeface="Century Schoolbook"/>
              </a:rPr>
              <a:t>Aho</a:t>
            </a:r>
            <a:r>
              <a:rPr lang="en-US" sz="2400" dirty="0">
                <a:solidFill>
                  <a:prstClr val="black"/>
                </a:solidFill>
                <a:latin typeface="Century Schoolbook"/>
              </a:rPr>
              <a:t>, </a:t>
            </a:r>
            <a:r>
              <a:rPr lang="en-US" sz="2400" dirty="0" smtClean="0">
                <a:solidFill>
                  <a:prstClr val="black"/>
                </a:solidFill>
                <a:latin typeface="Century Schoolbook"/>
              </a:rPr>
              <a:t>Lam, </a:t>
            </a:r>
            <a:r>
              <a:rPr lang="en-US" sz="2400" dirty="0" err="1" smtClean="0">
                <a:solidFill>
                  <a:prstClr val="black"/>
                </a:solidFill>
                <a:latin typeface="Century Schoolbook"/>
              </a:rPr>
              <a:t>Sethi</a:t>
            </a:r>
            <a:r>
              <a:rPr lang="en-US" sz="2400" dirty="0">
                <a:solidFill>
                  <a:prstClr val="black"/>
                </a:solidFill>
                <a:latin typeface="Century Schoolbook"/>
              </a:rPr>
              <a:t>, </a:t>
            </a:r>
            <a:r>
              <a:rPr lang="en-US" sz="2400" dirty="0" smtClean="0">
                <a:solidFill>
                  <a:prstClr val="black"/>
                </a:solidFill>
                <a:latin typeface="Century Schoolbook"/>
              </a:rPr>
              <a:t>Ullman</a:t>
            </a: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Modern </a:t>
            </a:r>
            <a:r>
              <a:rPr lang="en-US" sz="2400" dirty="0">
                <a:solidFill>
                  <a:prstClr val="black"/>
                </a:solidFill>
                <a:latin typeface="Century Schoolbook"/>
              </a:rPr>
              <a:t>Compiler Implementation  in C (The Tiger Book</a:t>
            </a:r>
            <a:r>
              <a:rPr lang="en-US" sz="2400" dirty="0" smtClean="0">
                <a:solidFill>
                  <a:prstClr val="black"/>
                </a:solidFill>
                <a:latin typeface="Century Schoolbook"/>
              </a:rPr>
              <a:t>).</a:t>
            </a:r>
          </a:p>
          <a:p>
            <a:pPr marL="566928" lvl="1" indent="-274320">
              <a:lnSpc>
                <a:spcPct val="100000"/>
              </a:lnSpc>
              <a:spcBef>
                <a:spcPts val="600"/>
              </a:spcBef>
              <a:spcAft>
                <a:spcPts val="0"/>
              </a:spcAft>
              <a:buClr>
                <a:srgbClr val="FE8637"/>
              </a:buClr>
              <a:buSzPct val="70000"/>
              <a:buFont typeface="Wingdings"/>
              <a:buChar char=""/>
            </a:pPr>
            <a:r>
              <a:rPr lang="en-US" sz="2200" dirty="0" smtClean="0">
                <a:solidFill>
                  <a:prstClr val="black"/>
                </a:solidFill>
                <a:latin typeface="Century Schoolbook"/>
              </a:rPr>
              <a:t>Andrew W. </a:t>
            </a:r>
            <a:r>
              <a:rPr lang="en-US" sz="2200" dirty="0" err="1" smtClean="0">
                <a:solidFill>
                  <a:prstClr val="black"/>
                </a:solidFill>
                <a:latin typeface="Century Schoolbook"/>
              </a:rPr>
              <a:t>Appel</a:t>
            </a:r>
            <a:r>
              <a:rPr lang="en-US" sz="2200" dirty="0" smtClean="0">
                <a:solidFill>
                  <a:prstClr val="black"/>
                </a:solidFill>
                <a:latin typeface="Century Schoolbook"/>
              </a:rPr>
              <a:t> </a:t>
            </a:r>
          </a:p>
          <a:p>
            <a:pPr marL="365760" lvl="1" indent="0">
              <a:lnSpc>
                <a:spcPct val="100000"/>
              </a:lnSpc>
              <a:spcBef>
                <a:spcPct val="20000"/>
              </a:spcBef>
              <a:spcAft>
                <a:spcPts val="0"/>
              </a:spcAft>
              <a:buClr>
                <a:srgbClr val="FE8637"/>
              </a:buClr>
              <a:buSzPct val="80000"/>
              <a:buNone/>
            </a:pPr>
            <a:endParaRPr lang="en-US" sz="2400" dirty="0">
              <a:solidFill>
                <a:prstClr val="black"/>
              </a:solidFill>
              <a:latin typeface="Century Schoolbook"/>
            </a:endParaRPr>
          </a:p>
          <a:p>
            <a:endParaRPr lang="en-US" dirty="0"/>
          </a:p>
        </p:txBody>
      </p:sp>
    </p:spTree>
    <p:extLst>
      <p:ext uri="{BB962C8B-B14F-4D97-AF65-F5344CB8AC3E}">
        <p14:creationId xmlns:p14="http://schemas.microsoft.com/office/powerpoint/2010/main" val="252504199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Grading Policy</a:t>
            </a:r>
            <a:endParaRPr lang="en-US" sz="4000" dirty="0"/>
          </a:p>
        </p:txBody>
      </p:sp>
      <p:sp>
        <p:nvSpPr>
          <p:cNvPr id="3" name="Content Placeholder 2"/>
          <p:cNvSpPr>
            <a:spLocks noGrp="1"/>
          </p:cNvSpPr>
          <p:nvPr>
            <p:ph idx="1"/>
          </p:nvPr>
        </p:nvSpPr>
        <p:spPr>
          <a:xfrm>
            <a:off x="1097280" y="1832287"/>
            <a:ext cx="10058400" cy="4023360"/>
          </a:xfrm>
        </p:spPr>
        <p:txBody>
          <a:bodyPr>
            <a:normAutofit fontScale="92500" lnSpcReduction="10000"/>
          </a:bodyPr>
          <a:lstStyle/>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 Attendance </a:t>
            </a:r>
            <a:r>
              <a:rPr lang="en-US" sz="2400" dirty="0">
                <a:solidFill>
                  <a:prstClr val="black"/>
                </a:solidFill>
                <a:latin typeface="Century Schoolbook"/>
              </a:rPr>
              <a:t>					10%</a:t>
            </a: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 Assignment</a:t>
            </a:r>
            <a:r>
              <a:rPr lang="en-US" sz="2400" dirty="0">
                <a:solidFill>
                  <a:prstClr val="black"/>
                </a:solidFill>
                <a:latin typeface="Century Schoolbook"/>
              </a:rPr>
              <a:t>					5%</a:t>
            </a: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 Class </a:t>
            </a:r>
            <a:r>
              <a:rPr lang="en-US" sz="2400" dirty="0">
                <a:solidFill>
                  <a:prstClr val="black"/>
                </a:solidFill>
                <a:latin typeface="Century Schoolbook"/>
              </a:rPr>
              <a:t>Test					20% (Best </a:t>
            </a:r>
            <a:r>
              <a:rPr lang="en-US" sz="2400" dirty="0" smtClean="0">
                <a:solidFill>
                  <a:prstClr val="black"/>
                </a:solidFill>
                <a:latin typeface="Century Schoolbook"/>
              </a:rPr>
              <a:t>two of </a:t>
            </a:r>
            <a:r>
              <a:rPr lang="en-US" sz="2400" dirty="0">
                <a:solidFill>
                  <a:prstClr val="black"/>
                </a:solidFill>
                <a:latin typeface="Century Schoolbook"/>
              </a:rPr>
              <a:t>three)</a:t>
            </a: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 (</a:t>
            </a:r>
            <a:r>
              <a:rPr lang="en-US" sz="2400" dirty="0">
                <a:solidFill>
                  <a:prstClr val="black"/>
                </a:solidFill>
                <a:latin typeface="Century Schoolbook"/>
              </a:rPr>
              <a:t>includes exercises and lecture materials</a:t>
            </a:r>
            <a:r>
              <a:rPr lang="en-US" sz="2400" dirty="0" smtClean="0">
                <a:solidFill>
                  <a:prstClr val="black"/>
                </a:solidFill>
                <a:latin typeface="Century Schoolbook"/>
              </a:rPr>
              <a:t>)</a:t>
            </a:r>
            <a:endParaRPr lang="en-US" sz="2400"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 Surprise </a:t>
            </a:r>
            <a:r>
              <a:rPr lang="en-US" sz="2400" dirty="0">
                <a:solidFill>
                  <a:prstClr val="black"/>
                </a:solidFill>
                <a:latin typeface="Century Schoolbook"/>
              </a:rPr>
              <a:t>test					5% </a:t>
            </a:r>
            <a:endParaRPr lang="en-US" sz="2400" dirty="0" smtClean="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a:t>
            </a:r>
            <a:r>
              <a:rPr lang="en-US" sz="2400" dirty="0">
                <a:solidFill>
                  <a:prstClr val="black"/>
                </a:solidFill>
                <a:latin typeface="Century Schoolbook"/>
              </a:rPr>
              <a:t>at the </a:t>
            </a:r>
            <a:r>
              <a:rPr lang="en-US" sz="2400" dirty="0" smtClean="0">
                <a:solidFill>
                  <a:prstClr val="black"/>
                </a:solidFill>
                <a:latin typeface="Century Schoolbook"/>
              </a:rPr>
              <a:t>end or starting </a:t>
            </a:r>
            <a:r>
              <a:rPr lang="en-US" sz="2400" dirty="0">
                <a:solidFill>
                  <a:prstClr val="black"/>
                </a:solidFill>
                <a:latin typeface="Century Schoolbook"/>
              </a:rPr>
              <a:t>of lecture)</a:t>
            </a:r>
          </a:p>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a:t>
            </a: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Total</a:t>
            </a:r>
            <a:r>
              <a:rPr lang="en-US" sz="2400" dirty="0">
                <a:solidFill>
                  <a:prstClr val="black"/>
                </a:solidFill>
                <a:latin typeface="Century Schoolbook"/>
              </a:rPr>
              <a:t>					</a:t>
            </a:r>
            <a:r>
              <a:rPr lang="en-US" sz="2400" dirty="0" smtClean="0">
                <a:solidFill>
                  <a:prstClr val="black"/>
                </a:solidFill>
                <a:latin typeface="Century Schoolbook"/>
              </a:rPr>
              <a:t>            40%</a:t>
            </a:r>
            <a:endParaRPr lang="en-US" sz="2400"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Final Exam					</a:t>
            </a:r>
            <a:r>
              <a:rPr lang="en-US" sz="2400" dirty="0" smtClean="0">
                <a:solidFill>
                  <a:prstClr val="black"/>
                </a:solidFill>
                <a:latin typeface="Century Schoolbook"/>
              </a:rPr>
              <a:t>60</a:t>
            </a:r>
            <a:r>
              <a:rPr lang="en-US" sz="2400" dirty="0">
                <a:solidFill>
                  <a:prstClr val="black"/>
                </a:solidFill>
                <a:latin typeface="Century Schoolbook"/>
              </a:rPr>
              <a:t>%</a:t>
            </a:r>
          </a:p>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(includes exercises and lecture materials)</a:t>
            </a:r>
          </a:p>
          <a:p>
            <a:pPr marL="365760" lvl="1" indent="0">
              <a:lnSpc>
                <a:spcPct val="100000"/>
              </a:lnSpc>
              <a:spcBef>
                <a:spcPct val="20000"/>
              </a:spcBef>
              <a:spcAft>
                <a:spcPts val="0"/>
              </a:spcAft>
              <a:buClr>
                <a:srgbClr val="FE8637"/>
              </a:buClr>
              <a:buSzPct val="80000"/>
              <a:buNone/>
            </a:pPr>
            <a:endParaRPr lang="en-US" sz="2400" dirty="0">
              <a:solidFill>
                <a:prstClr val="black"/>
              </a:solidFill>
              <a:latin typeface="Century Schoolbook"/>
            </a:endParaRPr>
          </a:p>
          <a:p>
            <a:endParaRPr lang="en-US" dirty="0"/>
          </a:p>
        </p:txBody>
      </p:sp>
    </p:spTree>
    <p:extLst>
      <p:ext uri="{BB962C8B-B14F-4D97-AF65-F5344CB8AC3E}">
        <p14:creationId xmlns:p14="http://schemas.microsoft.com/office/powerpoint/2010/main" val="177456404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Language Processor</a:t>
            </a:r>
            <a:endParaRPr lang="en-GB" dirty="0"/>
          </a:p>
        </p:txBody>
      </p:sp>
      <p:sp>
        <p:nvSpPr>
          <p:cNvPr id="3" name="Content Placeholder 2"/>
          <p:cNvSpPr>
            <a:spLocks noGrp="1"/>
          </p:cNvSpPr>
          <p:nvPr>
            <p:ph idx="1"/>
          </p:nvPr>
        </p:nvSpPr>
        <p:spPr>
          <a:xfrm>
            <a:off x="1097280" y="1845733"/>
            <a:ext cx="10058400" cy="4394645"/>
          </a:xfrm>
        </p:spPr>
        <p:txBody>
          <a:bodyPr>
            <a:normAutofit fontScale="92500" lnSpcReduction="20000"/>
          </a:bodyPr>
          <a:lstStyle/>
          <a:p>
            <a:pPr fontAlgn="base">
              <a:lnSpc>
                <a:spcPct val="110000"/>
              </a:lnSpc>
              <a:buFont typeface="Wingdings" panose="05000000000000000000" pitchFamily="2" charset="2"/>
              <a:buChar char="v"/>
            </a:pPr>
            <a:r>
              <a:rPr lang="en-GB" sz="2200" dirty="0" smtClean="0">
                <a:latin typeface="Century Schoolbook" panose="02040604050505020304" pitchFamily="18" charset="0"/>
              </a:rPr>
              <a:t> A </a:t>
            </a:r>
            <a:r>
              <a:rPr lang="en-GB" sz="2200" dirty="0">
                <a:latin typeface="Century Schoolbook" panose="02040604050505020304" pitchFamily="18" charset="0"/>
              </a:rPr>
              <a:t>computer understands instructions in machine code, i.e. in the form of 0s and 1s. It is a tedious task to write a computer program directly in machine code. </a:t>
            </a:r>
            <a:endParaRPr lang="en-GB" sz="2200" dirty="0" smtClean="0">
              <a:latin typeface="Century Schoolbook" panose="02040604050505020304" pitchFamily="18" charset="0"/>
            </a:endParaRPr>
          </a:p>
          <a:p>
            <a:pPr fontAlgn="base">
              <a:lnSpc>
                <a:spcPct val="110000"/>
              </a:lnSpc>
              <a:buFont typeface="Wingdings" panose="05000000000000000000" pitchFamily="2" charset="2"/>
              <a:buChar char="v"/>
            </a:pPr>
            <a:r>
              <a:rPr lang="en-GB" sz="2200" dirty="0" smtClean="0">
                <a:latin typeface="Century Schoolbook" panose="02040604050505020304" pitchFamily="18" charset="0"/>
              </a:rPr>
              <a:t> The </a:t>
            </a:r>
            <a:r>
              <a:rPr lang="en-GB" sz="2200" dirty="0">
                <a:latin typeface="Century Schoolbook" panose="02040604050505020304" pitchFamily="18" charset="0"/>
              </a:rPr>
              <a:t>programs are written mostly in high level languages like Java, C++, Python etc. and are called </a:t>
            </a:r>
            <a:r>
              <a:rPr lang="en-GB" sz="2200" b="1" dirty="0">
                <a:latin typeface="Century Schoolbook" panose="02040604050505020304" pitchFamily="18" charset="0"/>
              </a:rPr>
              <a:t>source code</a:t>
            </a:r>
            <a:r>
              <a:rPr lang="en-GB" sz="2200" dirty="0">
                <a:latin typeface="Century Schoolbook" panose="02040604050505020304" pitchFamily="18" charset="0"/>
              </a:rPr>
              <a:t>. These source code cannot be executed directly by the computer and must be converted into machine language to be executed. </a:t>
            </a:r>
            <a:endParaRPr lang="en-GB" sz="2200" dirty="0" smtClean="0">
              <a:latin typeface="Century Schoolbook" panose="02040604050505020304" pitchFamily="18" charset="0"/>
            </a:endParaRPr>
          </a:p>
          <a:p>
            <a:pPr fontAlgn="base">
              <a:lnSpc>
                <a:spcPct val="120000"/>
              </a:lnSpc>
              <a:buFont typeface="Wingdings" panose="05000000000000000000" pitchFamily="2" charset="2"/>
              <a:buChar char="v"/>
            </a:pPr>
            <a:r>
              <a:rPr lang="en-GB" sz="2200" dirty="0" smtClean="0">
                <a:latin typeface="Century Schoolbook" panose="02040604050505020304" pitchFamily="18" charset="0"/>
              </a:rPr>
              <a:t> Hence</a:t>
            </a:r>
            <a:r>
              <a:rPr lang="en-GB" sz="2200" dirty="0">
                <a:latin typeface="Century Schoolbook" panose="02040604050505020304" pitchFamily="18" charset="0"/>
              </a:rPr>
              <a:t>, a special translator system software is used to translate the program written in high-level language into machine code is called </a:t>
            </a:r>
            <a:r>
              <a:rPr lang="en-GB" sz="2200" b="1" dirty="0">
                <a:latin typeface="Century Schoolbook" panose="02040604050505020304" pitchFamily="18" charset="0"/>
              </a:rPr>
              <a:t>Language Processor</a:t>
            </a:r>
            <a:r>
              <a:rPr lang="en-GB" sz="2200" dirty="0">
                <a:latin typeface="Century Schoolbook" panose="02040604050505020304" pitchFamily="18" charset="0"/>
              </a:rPr>
              <a:t> and the program after translated into machine code (object program / object code).</a:t>
            </a:r>
          </a:p>
          <a:p>
            <a:pPr fontAlgn="base">
              <a:buFont typeface="Wingdings" panose="05000000000000000000" pitchFamily="2" charset="2"/>
              <a:buChar char="v"/>
            </a:pPr>
            <a:r>
              <a:rPr lang="en-GB" sz="2200" dirty="0">
                <a:latin typeface="Century Schoolbook" panose="02040604050505020304" pitchFamily="18" charset="0"/>
              </a:rPr>
              <a:t>The language processors can be any of the following three types</a:t>
            </a:r>
            <a:r>
              <a:rPr lang="en-GB" sz="2200" dirty="0" smtClean="0">
                <a:latin typeface="Century Schoolbook" panose="02040604050505020304" pitchFamily="18" charset="0"/>
              </a:rPr>
              <a:t>:</a:t>
            </a:r>
          </a:p>
          <a:p>
            <a:pPr marL="475488" lvl="2" indent="0" fontAlgn="base">
              <a:buNone/>
            </a:pPr>
            <a:r>
              <a:rPr lang="en-GB" sz="2200" dirty="0" smtClean="0">
                <a:latin typeface="Century Schoolbook" panose="02040604050505020304" pitchFamily="18" charset="0"/>
              </a:rPr>
              <a:t>1. Compiler</a:t>
            </a:r>
          </a:p>
          <a:p>
            <a:pPr marL="475488" lvl="2" indent="0" fontAlgn="base">
              <a:buNone/>
            </a:pPr>
            <a:r>
              <a:rPr lang="en-GB" sz="2200" dirty="0" smtClean="0">
                <a:latin typeface="Century Schoolbook" panose="02040604050505020304" pitchFamily="18" charset="0"/>
              </a:rPr>
              <a:t>2. Interpreter</a:t>
            </a:r>
          </a:p>
          <a:p>
            <a:pPr marL="475488" lvl="2" indent="0" fontAlgn="base">
              <a:buNone/>
            </a:pPr>
            <a:r>
              <a:rPr lang="en-GB" sz="2200" dirty="0" smtClean="0">
                <a:latin typeface="Century Schoolbook" panose="02040604050505020304" pitchFamily="18" charset="0"/>
              </a:rPr>
              <a:t>3. Assembler</a:t>
            </a:r>
            <a:endParaRPr lang="en-GB" sz="2200" dirty="0">
              <a:latin typeface="Century Schoolbook" panose="02040604050505020304" pitchFamily="18" charset="0"/>
            </a:endParaRPr>
          </a:p>
        </p:txBody>
      </p:sp>
    </p:spTree>
    <p:extLst>
      <p:ext uri="{BB962C8B-B14F-4D97-AF65-F5344CB8AC3E}">
        <p14:creationId xmlns:p14="http://schemas.microsoft.com/office/powerpoint/2010/main" val="1761223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Language Processor: Compiler </a:t>
            </a:r>
            <a:endParaRPr lang="en-US" sz="4000" dirty="0"/>
          </a:p>
        </p:txBody>
      </p:sp>
      <p:sp>
        <p:nvSpPr>
          <p:cNvPr id="3" name="Content Placeholder 2"/>
          <p:cNvSpPr>
            <a:spLocks noGrp="1"/>
          </p:cNvSpPr>
          <p:nvPr>
            <p:ph idx="1"/>
          </p:nvPr>
        </p:nvSpPr>
        <p:spPr>
          <a:xfrm>
            <a:off x="1097280" y="1845734"/>
            <a:ext cx="10058400" cy="3183466"/>
          </a:xfrm>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A compiler is a program </a:t>
            </a:r>
            <a:r>
              <a:rPr lang="en-US" sz="2400" dirty="0" smtClean="0">
                <a:solidFill>
                  <a:prstClr val="black"/>
                </a:solidFill>
                <a:latin typeface="Century Schoolbook"/>
              </a:rPr>
              <a:t>that reads the whole </a:t>
            </a:r>
            <a:r>
              <a:rPr lang="en-US" sz="2400" dirty="0" smtClean="0">
                <a:solidFill>
                  <a:prstClr val="black"/>
                </a:solidFill>
                <a:latin typeface="Century Schoolbook"/>
              </a:rPr>
              <a:t>program written in a </a:t>
            </a:r>
            <a:r>
              <a:rPr lang="en-US" sz="2400" b="1" i="1" dirty="0" smtClean="0">
                <a:solidFill>
                  <a:prstClr val="black"/>
                </a:solidFill>
                <a:latin typeface="Century Schoolbook"/>
              </a:rPr>
              <a:t>source </a:t>
            </a:r>
            <a:r>
              <a:rPr lang="en-US" sz="2400" b="1" i="1" dirty="0" smtClean="0">
                <a:solidFill>
                  <a:prstClr val="black"/>
                </a:solidFill>
                <a:latin typeface="Century Schoolbook"/>
              </a:rPr>
              <a:t>language/high level language as a whole in one go </a:t>
            </a:r>
            <a:r>
              <a:rPr lang="en-US" sz="2400" dirty="0" smtClean="0">
                <a:solidFill>
                  <a:prstClr val="black"/>
                </a:solidFill>
                <a:latin typeface="Century Schoolbook"/>
              </a:rPr>
              <a:t>and </a:t>
            </a:r>
            <a:r>
              <a:rPr lang="en-US" sz="2400" dirty="0" smtClean="0">
                <a:solidFill>
                  <a:prstClr val="black"/>
                </a:solidFill>
                <a:latin typeface="Century Schoolbook"/>
              </a:rPr>
              <a:t>translates it into an equivalent program </a:t>
            </a:r>
            <a:r>
              <a:rPr lang="en-US" sz="2400" dirty="0" smtClean="0">
                <a:solidFill>
                  <a:prstClr val="black"/>
                </a:solidFill>
                <a:latin typeface="Century Schoolbook"/>
              </a:rPr>
              <a:t>in </a:t>
            </a:r>
            <a:r>
              <a:rPr lang="en-US" sz="2400" dirty="0" smtClean="0">
                <a:solidFill>
                  <a:prstClr val="black"/>
                </a:solidFill>
                <a:latin typeface="Century Schoolbook"/>
              </a:rPr>
              <a:t>a </a:t>
            </a:r>
            <a:r>
              <a:rPr lang="en-US" sz="2400" b="1" i="1" dirty="0" smtClean="0">
                <a:solidFill>
                  <a:prstClr val="black"/>
                </a:solidFill>
                <a:latin typeface="Century Schoolbook"/>
              </a:rPr>
              <a:t>target </a:t>
            </a:r>
            <a:r>
              <a:rPr lang="en-US" sz="2400" b="1" i="1" dirty="0" smtClean="0">
                <a:solidFill>
                  <a:prstClr val="black"/>
                </a:solidFill>
                <a:latin typeface="Century Schoolbook"/>
              </a:rPr>
              <a:t>language.</a:t>
            </a:r>
            <a:endParaRPr lang="en-US" dirty="0" smtClean="0"/>
          </a:p>
          <a:p>
            <a:endParaRPr lang="en-US" dirty="0"/>
          </a:p>
          <a:p>
            <a:endParaRPr lang="en-US" dirty="0" smtClean="0"/>
          </a:p>
          <a:p>
            <a:endParaRPr lang="en-US" dirty="0"/>
          </a:p>
          <a:p>
            <a:endParaRPr lang="en-US" dirty="0" smtClean="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38976" y="5137574"/>
            <a:ext cx="5316704" cy="844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4829" y="3523828"/>
            <a:ext cx="6430297" cy="171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469951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Language Processor: Interpreter </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An interpreter is </a:t>
            </a:r>
            <a:r>
              <a:rPr lang="en-US" sz="2400" dirty="0" smtClean="0">
                <a:solidFill>
                  <a:prstClr val="black"/>
                </a:solidFill>
                <a:latin typeface="Century Schoolbook"/>
              </a:rPr>
              <a:t>another common kind </a:t>
            </a:r>
            <a:r>
              <a:rPr lang="en-US" sz="2400" dirty="0">
                <a:solidFill>
                  <a:prstClr val="black"/>
                </a:solidFill>
                <a:latin typeface="Century Schoolbook"/>
              </a:rPr>
              <a:t>of language </a:t>
            </a:r>
            <a:r>
              <a:rPr lang="en-US" sz="2400" dirty="0" smtClean="0">
                <a:solidFill>
                  <a:prstClr val="black"/>
                </a:solidFill>
                <a:latin typeface="Century Schoolbook"/>
              </a:rPr>
              <a:t>processor.</a:t>
            </a: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Instead </a:t>
            </a:r>
            <a:r>
              <a:rPr lang="en-US" sz="2400" dirty="0">
                <a:solidFill>
                  <a:prstClr val="black"/>
                </a:solidFill>
                <a:latin typeface="Century Schoolbook"/>
              </a:rPr>
              <a:t>of producing a target program as a translation, an interpreter appears to directly execute the operations specified in the source program on inputs supplied by the user</a:t>
            </a:r>
            <a:r>
              <a:rPr lang="en-US" sz="2400" dirty="0" smtClean="0">
                <a:solidFill>
                  <a:prstClr val="black"/>
                </a:solidFill>
                <a:latin typeface="Century Schoolbook"/>
              </a:rPr>
              <a:t>.</a:t>
            </a:r>
          </a:p>
        </p:txBody>
      </p:sp>
      <p:sp>
        <p:nvSpPr>
          <p:cNvPr id="4" name="Rectangle 4"/>
          <p:cNvSpPr>
            <a:spLocks noChangeArrowheads="1"/>
          </p:cNvSpPr>
          <p:nvPr/>
        </p:nvSpPr>
        <p:spPr bwMode="auto">
          <a:xfrm>
            <a:off x="4499171" y="3987800"/>
            <a:ext cx="1828800" cy="838200"/>
          </a:xfrm>
          <a:prstGeom prst="rect">
            <a:avLst/>
          </a:prstGeom>
          <a:ln w="12700">
            <a:headEnd/>
            <a:tailEnd/>
          </a:ln>
        </p:spPr>
        <p:style>
          <a:lnRef idx="2">
            <a:schemeClr val="accent2"/>
          </a:lnRef>
          <a:fillRef idx="1">
            <a:schemeClr val="lt1"/>
          </a:fillRef>
          <a:effectRef idx="0">
            <a:schemeClr val="accent2"/>
          </a:effectRef>
          <a:fontRef idx="minor">
            <a:schemeClr val="dk1"/>
          </a:fontRef>
        </p:style>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r>
              <a:rPr lang="en-US" sz="2000" b="1" dirty="0" smtClean="0">
                <a:solidFill>
                  <a:prstClr val="black"/>
                </a:solidFill>
                <a:latin typeface="Century Schoolbook"/>
              </a:rPr>
              <a:t> Interpreter</a:t>
            </a:r>
            <a:endParaRPr lang="en-US" sz="2000" b="1" dirty="0"/>
          </a:p>
        </p:txBody>
      </p:sp>
      <p:sp>
        <p:nvSpPr>
          <p:cNvPr id="5" name="Line 5"/>
          <p:cNvSpPr>
            <a:spLocks noChangeShapeType="1"/>
          </p:cNvSpPr>
          <p:nvPr/>
        </p:nvSpPr>
        <p:spPr bwMode="auto">
          <a:xfrm>
            <a:off x="4158127" y="4212714"/>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6" name="Line 6"/>
          <p:cNvSpPr>
            <a:spLocks noChangeShapeType="1"/>
          </p:cNvSpPr>
          <p:nvPr/>
        </p:nvSpPr>
        <p:spPr bwMode="auto">
          <a:xfrm>
            <a:off x="6410679" y="4443547"/>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7" name="Rectangle 6"/>
          <p:cNvSpPr/>
          <p:nvPr/>
        </p:nvSpPr>
        <p:spPr>
          <a:xfrm>
            <a:off x="2004973" y="3945235"/>
            <a:ext cx="2153154" cy="461665"/>
          </a:xfrm>
          <a:prstGeom prst="rect">
            <a:avLst/>
          </a:prstGeom>
        </p:spPr>
        <p:txBody>
          <a:bodyPr wrap="none">
            <a:spAutoFit/>
          </a:bodyPr>
          <a:lstStyle/>
          <a:p>
            <a:r>
              <a:rPr lang="en-US" sz="2400" dirty="0" smtClean="0">
                <a:solidFill>
                  <a:schemeClr val="tx2">
                    <a:lumMod val="50000"/>
                  </a:schemeClr>
                </a:solidFill>
                <a:latin typeface="Adobe Caslon Pro" panose="0205050205050A020403" pitchFamily="18" charset="0"/>
              </a:rPr>
              <a:t>Source program</a:t>
            </a:r>
            <a:endParaRPr lang="en-US" sz="2400" dirty="0">
              <a:latin typeface="Adobe Caslon Pro" panose="0205050205050A020403" pitchFamily="18" charset="0"/>
            </a:endParaRPr>
          </a:p>
        </p:txBody>
      </p:sp>
      <p:sp>
        <p:nvSpPr>
          <p:cNvPr id="8" name="Rectangle 7"/>
          <p:cNvSpPr/>
          <p:nvPr/>
        </p:nvSpPr>
        <p:spPr>
          <a:xfrm>
            <a:off x="6736406" y="4212714"/>
            <a:ext cx="1039067" cy="461665"/>
          </a:xfrm>
          <a:prstGeom prst="rect">
            <a:avLst/>
          </a:prstGeom>
        </p:spPr>
        <p:txBody>
          <a:bodyPr wrap="none">
            <a:spAutoFit/>
          </a:bodyPr>
          <a:lstStyle/>
          <a:p>
            <a:r>
              <a:rPr lang="en-US" sz="2400" dirty="0">
                <a:solidFill>
                  <a:schemeClr val="tx2">
                    <a:lumMod val="50000"/>
                  </a:schemeClr>
                </a:solidFill>
                <a:latin typeface="Adobe Caslon Pro" panose="0205050205050A020403" pitchFamily="18" charset="0"/>
              </a:rPr>
              <a:t>O</a:t>
            </a:r>
            <a:r>
              <a:rPr lang="en-US" sz="2400" dirty="0" smtClean="0">
                <a:solidFill>
                  <a:schemeClr val="tx2">
                    <a:lumMod val="50000"/>
                  </a:schemeClr>
                </a:solidFill>
                <a:latin typeface="Adobe Caslon Pro" panose="0205050205050A020403" pitchFamily="18" charset="0"/>
              </a:rPr>
              <a:t>utput</a:t>
            </a:r>
            <a:endParaRPr lang="en-US" sz="2400" dirty="0">
              <a:latin typeface="Adobe Caslon Pro" panose="0205050205050A020403" pitchFamily="18" charset="0"/>
            </a:endParaRPr>
          </a:p>
        </p:txBody>
      </p:sp>
      <p:sp>
        <p:nvSpPr>
          <p:cNvPr id="9" name="Line 9"/>
          <p:cNvSpPr>
            <a:spLocks noChangeShapeType="1"/>
          </p:cNvSpPr>
          <p:nvPr/>
        </p:nvSpPr>
        <p:spPr bwMode="auto">
          <a:xfrm>
            <a:off x="5354914" y="4826000"/>
            <a:ext cx="8967" cy="4572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
        <p:nvSpPr>
          <p:cNvPr id="10" name="Rectangle 9"/>
          <p:cNvSpPr/>
          <p:nvPr/>
        </p:nvSpPr>
        <p:spPr>
          <a:xfrm>
            <a:off x="4462927" y="5364680"/>
            <a:ext cx="2055563" cy="461665"/>
          </a:xfrm>
          <a:prstGeom prst="rect">
            <a:avLst/>
          </a:prstGeom>
        </p:spPr>
        <p:txBody>
          <a:bodyPr wrap="none">
            <a:spAutoFit/>
          </a:bodyPr>
          <a:lstStyle/>
          <a:p>
            <a:r>
              <a:rPr lang="en-US" sz="2400" dirty="0" smtClean="0">
                <a:solidFill>
                  <a:schemeClr val="tx2">
                    <a:lumMod val="50000"/>
                  </a:schemeClr>
                </a:solidFill>
                <a:latin typeface="Adobe Caslon Pro" panose="0205050205050A020403" pitchFamily="18" charset="0"/>
              </a:rPr>
              <a:t>Error </a:t>
            </a:r>
            <a:r>
              <a:rPr lang="en-US" sz="2400" dirty="0">
                <a:solidFill>
                  <a:schemeClr val="tx2">
                    <a:lumMod val="50000"/>
                  </a:schemeClr>
                </a:solidFill>
                <a:latin typeface="Adobe Caslon Pro" panose="0205050205050A020403" pitchFamily="18" charset="0"/>
              </a:rPr>
              <a:t>messages</a:t>
            </a:r>
            <a:endParaRPr lang="en-US" sz="2400" dirty="0">
              <a:latin typeface="Adobe Caslon Pro" panose="0205050205050A020403" pitchFamily="18" charset="0"/>
            </a:endParaRPr>
          </a:p>
        </p:txBody>
      </p:sp>
      <p:sp>
        <p:nvSpPr>
          <p:cNvPr id="11" name="Rectangle 10"/>
          <p:cNvSpPr/>
          <p:nvPr/>
        </p:nvSpPr>
        <p:spPr>
          <a:xfrm>
            <a:off x="3206036" y="4364335"/>
            <a:ext cx="833883" cy="461665"/>
          </a:xfrm>
          <a:prstGeom prst="rect">
            <a:avLst/>
          </a:prstGeom>
        </p:spPr>
        <p:txBody>
          <a:bodyPr wrap="none">
            <a:spAutoFit/>
          </a:bodyPr>
          <a:lstStyle/>
          <a:p>
            <a:r>
              <a:rPr lang="en-US" sz="2400" dirty="0" smtClean="0">
                <a:solidFill>
                  <a:schemeClr val="tx2">
                    <a:lumMod val="50000"/>
                  </a:schemeClr>
                </a:solidFill>
                <a:latin typeface="Adobe Caslon Pro" panose="0205050205050A020403" pitchFamily="18" charset="0"/>
              </a:rPr>
              <a:t>Input</a:t>
            </a:r>
            <a:endParaRPr lang="en-US" sz="2400" dirty="0">
              <a:latin typeface="Adobe Caslon Pro" panose="0205050205050A020403" pitchFamily="18" charset="0"/>
            </a:endParaRPr>
          </a:p>
        </p:txBody>
      </p:sp>
      <p:sp>
        <p:nvSpPr>
          <p:cNvPr id="12" name="Line 5"/>
          <p:cNvSpPr>
            <a:spLocks noChangeShapeType="1"/>
          </p:cNvSpPr>
          <p:nvPr/>
        </p:nvSpPr>
        <p:spPr bwMode="auto">
          <a:xfrm>
            <a:off x="4104770" y="4595167"/>
            <a:ext cx="304800"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en-US"/>
          </a:p>
        </p:txBody>
      </p:sp>
    </p:spTree>
    <p:extLst>
      <p:ext uri="{BB962C8B-B14F-4D97-AF65-F5344CB8AC3E}">
        <p14:creationId xmlns:p14="http://schemas.microsoft.com/office/powerpoint/2010/main" val="3308945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Compiler vs. Interpreter</a:t>
            </a:r>
            <a:endParaRPr lang="en-US" dirty="0"/>
          </a:p>
        </p:txBody>
      </p:sp>
      <p:sp>
        <p:nvSpPr>
          <p:cNvPr id="4" name="Content Placeholder 3"/>
          <p:cNvSpPr>
            <a:spLocks noGrp="1"/>
          </p:cNvSpPr>
          <p:nvPr>
            <p:ph idx="1"/>
          </p:nvPr>
        </p:nvSpPr>
        <p:spPr/>
        <p:txBody>
          <a:bodyPr/>
          <a:lstStyle/>
          <a:p>
            <a:endParaRPr lang="en-GB"/>
          </a:p>
        </p:txBody>
      </p:sp>
      <p:pic>
        <p:nvPicPr>
          <p:cNvPr id="5" name="Picture 4"/>
          <p:cNvPicPr>
            <a:picLocks noChangeAspect="1"/>
          </p:cNvPicPr>
          <p:nvPr/>
        </p:nvPicPr>
        <p:blipFill>
          <a:blip r:embed="rId3"/>
          <a:stretch>
            <a:fillRect/>
          </a:stretch>
        </p:blipFill>
        <p:spPr>
          <a:xfrm>
            <a:off x="1540543" y="1845734"/>
            <a:ext cx="8325351" cy="4629082"/>
          </a:xfrm>
          <a:prstGeom prst="rect">
            <a:avLst/>
          </a:prstGeom>
          <a:ln>
            <a:solidFill>
              <a:schemeClr val="accent1"/>
            </a:solidFill>
          </a:ln>
        </p:spPr>
      </p:pic>
      <p:cxnSp>
        <p:nvCxnSpPr>
          <p:cNvPr id="7" name="Straight Connector 6"/>
          <p:cNvCxnSpPr/>
          <p:nvPr/>
        </p:nvCxnSpPr>
        <p:spPr>
          <a:xfrm>
            <a:off x="6256421" y="1845734"/>
            <a:ext cx="0" cy="468340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6903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Hybrid 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Java language processors combine compilation </a:t>
            </a:r>
            <a:r>
              <a:rPr lang="en-US" dirty="0" smtClean="0">
                <a:solidFill>
                  <a:prstClr val="black"/>
                </a:solidFill>
                <a:latin typeface="Century Schoolbook"/>
              </a:rPr>
              <a:t>and interpretation.</a:t>
            </a:r>
          </a:p>
          <a:p>
            <a:pPr marL="274320" lvl="0" indent="-274320">
              <a:lnSpc>
                <a:spcPct val="100000"/>
              </a:lnSpc>
              <a:spcBef>
                <a:spcPts val="600"/>
              </a:spcBef>
              <a:spcAft>
                <a:spcPts val="0"/>
              </a:spcAft>
              <a:buClr>
                <a:srgbClr val="FE8637"/>
              </a:buClr>
              <a:buSzPct val="70000"/>
              <a:buFont typeface="Wingdings"/>
              <a:buChar char=""/>
            </a:pP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4438" y="2446696"/>
            <a:ext cx="6400800" cy="340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528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Hybrid Compiler</a:t>
            </a:r>
            <a:endParaRPr lang="en-US" dirty="0"/>
          </a:p>
        </p:txBody>
      </p:sp>
      <p:sp>
        <p:nvSpPr>
          <p:cNvPr id="3" name="Content Placeholder 2"/>
          <p:cNvSpPr>
            <a:spLocks noGrp="1"/>
          </p:cNvSpPr>
          <p:nvPr>
            <p:ph idx="1"/>
          </p:nvPr>
        </p:nvSpPr>
        <p:spPr/>
        <p:txBody>
          <a:bodyPr>
            <a:normAutofit fontScale="92500" lnSpcReduction="20000"/>
          </a:bodyPr>
          <a:lstStyle/>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A Java source program may first be compiled into </a:t>
            </a:r>
            <a:r>
              <a:rPr lang="en-US" dirty="0" smtClean="0">
                <a:solidFill>
                  <a:prstClr val="black"/>
                </a:solidFill>
                <a:latin typeface="Century Schoolbook"/>
              </a:rPr>
              <a:t>an intermediate </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a:t>
            </a:r>
            <a:r>
              <a:rPr lang="en-US" dirty="0" smtClean="0">
                <a:solidFill>
                  <a:prstClr val="black"/>
                </a:solidFill>
                <a:latin typeface="Century Schoolbook"/>
              </a:rPr>
              <a:t>   form </a:t>
            </a:r>
            <a:r>
              <a:rPr lang="en-US" dirty="0">
                <a:solidFill>
                  <a:prstClr val="black"/>
                </a:solidFill>
                <a:latin typeface="Century Schoolbook"/>
              </a:rPr>
              <a:t>called </a:t>
            </a:r>
            <a:r>
              <a:rPr lang="en-US" b="1" dirty="0" err="1">
                <a:solidFill>
                  <a:prstClr val="black"/>
                </a:solidFill>
                <a:latin typeface="Century Schoolbook"/>
              </a:rPr>
              <a:t>bytecodes</a:t>
            </a:r>
            <a:r>
              <a:rPr lang="en-US" dirty="0">
                <a:solidFill>
                  <a:prstClr val="black"/>
                </a:solidFill>
                <a:latin typeface="Century Schoolbook"/>
              </a:rPr>
              <a:t>.</a:t>
            </a:r>
          </a:p>
          <a:p>
            <a:pPr marL="274320" lvl="0" indent="-274320">
              <a:lnSpc>
                <a:spcPct val="100000"/>
              </a:lnSpc>
              <a:spcBef>
                <a:spcPts val="600"/>
              </a:spcBef>
              <a:spcAft>
                <a:spcPts val="0"/>
              </a:spcAft>
              <a:buClr>
                <a:srgbClr val="FE8637"/>
              </a:buClr>
              <a:buSzPct val="70000"/>
              <a:buFont typeface="Wingdings"/>
              <a:buChar char=""/>
            </a:pPr>
            <a:r>
              <a:rPr lang="en-US" dirty="0">
                <a:solidFill>
                  <a:prstClr val="black"/>
                </a:solidFill>
                <a:latin typeface="Century Schoolbook"/>
              </a:rPr>
              <a:t>The </a:t>
            </a:r>
            <a:r>
              <a:rPr lang="en-US" b="1" dirty="0" err="1">
                <a:solidFill>
                  <a:prstClr val="black"/>
                </a:solidFill>
                <a:latin typeface="Century Schoolbook"/>
              </a:rPr>
              <a:t>bytecodes</a:t>
            </a:r>
            <a:r>
              <a:rPr lang="en-US" dirty="0">
                <a:solidFill>
                  <a:prstClr val="black"/>
                </a:solidFill>
                <a:latin typeface="Century Schoolbook"/>
              </a:rPr>
              <a:t> are then interpreted by a virtual machine.</a:t>
            </a:r>
          </a:p>
          <a:p>
            <a:pPr marL="274320" lvl="0" indent="-274320">
              <a:lnSpc>
                <a:spcPct val="100000"/>
              </a:lnSpc>
              <a:spcBef>
                <a:spcPts val="600"/>
              </a:spcBef>
              <a:spcAft>
                <a:spcPts val="0"/>
              </a:spcAft>
              <a:buClr>
                <a:srgbClr val="FE8637"/>
              </a:buClr>
              <a:buSzPct val="70000"/>
              <a:buFont typeface="Wingdings"/>
              <a:buChar char=""/>
            </a:pPr>
            <a:endParaRPr lang="en-US"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dirty="0" smtClean="0">
                <a:solidFill>
                  <a:prstClr val="black"/>
                </a:solidFill>
                <a:latin typeface="Century Schoolbook"/>
              </a:rPr>
              <a:t>A </a:t>
            </a:r>
            <a:r>
              <a:rPr lang="en-US" dirty="0">
                <a:solidFill>
                  <a:prstClr val="black"/>
                </a:solidFill>
                <a:latin typeface="Century Schoolbook"/>
              </a:rPr>
              <a:t>benefit of this arrangement is that </a:t>
            </a:r>
            <a:r>
              <a:rPr lang="en-US" dirty="0" err="1">
                <a:solidFill>
                  <a:prstClr val="black"/>
                </a:solidFill>
                <a:latin typeface="Century Schoolbook"/>
              </a:rPr>
              <a:t>bytecodes</a:t>
            </a:r>
            <a:r>
              <a:rPr lang="en-US" dirty="0">
                <a:solidFill>
                  <a:prstClr val="black"/>
                </a:solidFill>
                <a:latin typeface="Century Schoolbook"/>
              </a:rPr>
              <a:t> compiled</a:t>
            </a:r>
          </a:p>
          <a:p>
            <a:pPr marL="0" lvl="0" indent="0">
              <a:lnSpc>
                <a:spcPct val="100000"/>
              </a:lnSpc>
              <a:spcBef>
                <a:spcPts val="600"/>
              </a:spcBef>
              <a:spcAft>
                <a:spcPts val="0"/>
              </a:spcAft>
              <a:buClr>
                <a:srgbClr val="FE8637"/>
              </a:buClr>
              <a:buSzPct val="70000"/>
              <a:buNone/>
            </a:pPr>
            <a:r>
              <a:rPr lang="en-US" dirty="0" smtClean="0">
                <a:solidFill>
                  <a:prstClr val="black"/>
                </a:solidFill>
                <a:latin typeface="Century Schoolbook"/>
              </a:rPr>
              <a:t>    on </a:t>
            </a:r>
            <a:r>
              <a:rPr lang="en-US" dirty="0">
                <a:solidFill>
                  <a:prstClr val="black"/>
                </a:solidFill>
                <a:latin typeface="Century Schoolbook"/>
              </a:rPr>
              <a:t>one machine can be interpreted on another </a:t>
            </a:r>
            <a:r>
              <a:rPr lang="en-US" dirty="0" smtClean="0">
                <a:solidFill>
                  <a:prstClr val="black"/>
                </a:solidFill>
                <a:latin typeface="Century Schoolbook"/>
              </a:rPr>
              <a:t>machine, </a:t>
            </a:r>
          </a:p>
          <a:p>
            <a:pPr marL="0" lvl="0" indent="0">
              <a:lnSpc>
                <a:spcPct val="100000"/>
              </a:lnSpc>
              <a:spcBef>
                <a:spcPts val="600"/>
              </a:spcBef>
              <a:spcAft>
                <a:spcPts val="0"/>
              </a:spcAft>
              <a:buClr>
                <a:srgbClr val="FE8637"/>
              </a:buClr>
              <a:buSzPct val="70000"/>
              <a:buNone/>
            </a:pPr>
            <a:r>
              <a:rPr lang="en-US" dirty="0">
                <a:solidFill>
                  <a:prstClr val="black"/>
                </a:solidFill>
                <a:latin typeface="Century Schoolbook"/>
              </a:rPr>
              <a:t> </a:t>
            </a:r>
            <a:r>
              <a:rPr lang="en-US" dirty="0" smtClean="0">
                <a:solidFill>
                  <a:prstClr val="black"/>
                </a:solidFill>
                <a:latin typeface="Century Schoolbook"/>
              </a:rPr>
              <a:t>   perhaps </a:t>
            </a:r>
            <a:r>
              <a:rPr lang="en-US" dirty="0">
                <a:solidFill>
                  <a:prstClr val="black"/>
                </a:solidFill>
                <a:latin typeface="Century Schoolbook"/>
              </a:rPr>
              <a:t>across a network.</a:t>
            </a:r>
          </a:p>
          <a:p>
            <a:pPr marL="274320" lvl="0" indent="-274320">
              <a:lnSpc>
                <a:spcPct val="100000"/>
              </a:lnSpc>
              <a:spcBef>
                <a:spcPts val="600"/>
              </a:spcBef>
              <a:spcAft>
                <a:spcPts val="0"/>
              </a:spcAft>
              <a:buClr>
                <a:srgbClr val="FE8637"/>
              </a:buClr>
              <a:buSzPct val="70000"/>
              <a:buFont typeface="Wingdings"/>
              <a:buChar char=""/>
            </a:pPr>
            <a:endParaRPr lang="en-US"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dirty="0" smtClean="0">
                <a:solidFill>
                  <a:prstClr val="black"/>
                </a:solidFill>
                <a:latin typeface="Century Schoolbook"/>
              </a:rPr>
              <a:t>In </a:t>
            </a:r>
            <a:r>
              <a:rPr lang="en-US" dirty="0">
                <a:solidFill>
                  <a:prstClr val="black"/>
                </a:solidFill>
                <a:latin typeface="Century Schoolbook"/>
              </a:rPr>
              <a:t>order to achieve faster processing of inputs to outputs,</a:t>
            </a:r>
          </a:p>
          <a:p>
            <a:pPr marL="0" lvl="0" indent="0">
              <a:lnSpc>
                <a:spcPct val="100000"/>
              </a:lnSpc>
              <a:spcBef>
                <a:spcPts val="600"/>
              </a:spcBef>
              <a:spcAft>
                <a:spcPts val="0"/>
              </a:spcAft>
              <a:buClr>
                <a:srgbClr val="FE8637"/>
              </a:buClr>
              <a:buSzPct val="70000"/>
              <a:buNone/>
            </a:pPr>
            <a:r>
              <a:rPr lang="en-US" dirty="0" smtClean="0">
                <a:solidFill>
                  <a:prstClr val="black"/>
                </a:solidFill>
                <a:latin typeface="Century Schoolbook"/>
              </a:rPr>
              <a:t>    some </a:t>
            </a:r>
            <a:r>
              <a:rPr lang="en-US" dirty="0">
                <a:solidFill>
                  <a:prstClr val="black"/>
                </a:solidFill>
                <a:latin typeface="Century Schoolbook"/>
              </a:rPr>
              <a:t>Java compilers, called </a:t>
            </a:r>
            <a:r>
              <a:rPr lang="en-US" b="1" dirty="0">
                <a:solidFill>
                  <a:prstClr val="black"/>
                </a:solidFill>
                <a:latin typeface="Century Schoolbook"/>
              </a:rPr>
              <a:t>just-in-time compilers,</a:t>
            </a:r>
          </a:p>
          <a:p>
            <a:pPr marL="0" lvl="0" indent="0">
              <a:lnSpc>
                <a:spcPct val="100000"/>
              </a:lnSpc>
              <a:spcBef>
                <a:spcPts val="600"/>
              </a:spcBef>
              <a:spcAft>
                <a:spcPts val="0"/>
              </a:spcAft>
              <a:buClr>
                <a:srgbClr val="FE8637"/>
              </a:buClr>
              <a:buSzPct val="70000"/>
              <a:buNone/>
            </a:pPr>
            <a:r>
              <a:rPr lang="en-US" dirty="0" smtClean="0">
                <a:solidFill>
                  <a:prstClr val="black"/>
                </a:solidFill>
                <a:latin typeface="Century Schoolbook"/>
              </a:rPr>
              <a:t>    translate </a:t>
            </a:r>
            <a:r>
              <a:rPr lang="en-US" dirty="0">
                <a:solidFill>
                  <a:prstClr val="black"/>
                </a:solidFill>
                <a:latin typeface="Century Schoolbook"/>
              </a:rPr>
              <a:t>the </a:t>
            </a:r>
            <a:r>
              <a:rPr lang="en-US" dirty="0" err="1">
                <a:solidFill>
                  <a:prstClr val="black"/>
                </a:solidFill>
                <a:latin typeface="Century Schoolbook"/>
              </a:rPr>
              <a:t>bytecodes</a:t>
            </a:r>
            <a:r>
              <a:rPr lang="en-US" dirty="0">
                <a:solidFill>
                  <a:prstClr val="black"/>
                </a:solidFill>
                <a:latin typeface="Century Schoolbook"/>
              </a:rPr>
              <a:t> into machine language</a:t>
            </a:r>
          </a:p>
          <a:p>
            <a:pPr marL="0" lvl="0" indent="0">
              <a:lnSpc>
                <a:spcPct val="100000"/>
              </a:lnSpc>
              <a:spcBef>
                <a:spcPts val="600"/>
              </a:spcBef>
              <a:spcAft>
                <a:spcPts val="0"/>
              </a:spcAft>
              <a:buClr>
                <a:srgbClr val="FE8637"/>
              </a:buClr>
              <a:buSzPct val="70000"/>
              <a:buNone/>
            </a:pPr>
            <a:r>
              <a:rPr lang="en-US" dirty="0" smtClean="0">
                <a:solidFill>
                  <a:prstClr val="black"/>
                </a:solidFill>
                <a:latin typeface="Century Schoolbook"/>
              </a:rPr>
              <a:t>    immediately </a:t>
            </a:r>
            <a:r>
              <a:rPr lang="en-US" dirty="0">
                <a:solidFill>
                  <a:prstClr val="black"/>
                </a:solidFill>
                <a:latin typeface="Century Schoolbook"/>
              </a:rPr>
              <a:t>before they run the intermediate program to</a:t>
            </a:r>
          </a:p>
          <a:p>
            <a:pPr marL="0" lvl="0" indent="0">
              <a:lnSpc>
                <a:spcPct val="100000"/>
              </a:lnSpc>
              <a:spcBef>
                <a:spcPts val="600"/>
              </a:spcBef>
              <a:spcAft>
                <a:spcPts val="0"/>
              </a:spcAft>
              <a:buClr>
                <a:srgbClr val="FE8637"/>
              </a:buClr>
              <a:buSzPct val="70000"/>
              <a:buNone/>
            </a:pPr>
            <a:r>
              <a:rPr lang="en-US" dirty="0" smtClean="0">
                <a:solidFill>
                  <a:prstClr val="black"/>
                </a:solidFill>
                <a:latin typeface="Century Schoolbook"/>
              </a:rPr>
              <a:t>    process </a:t>
            </a:r>
            <a:r>
              <a:rPr lang="en-US" dirty="0">
                <a:solidFill>
                  <a:prstClr val="black"/>
                </a:solidFill>
                <a:latin typeface="Century Schoolbook"/>
              </a:rPr>
              <a:t>the input.</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7691" y="2212258"/>
            <a:ext cx="3983753" cy="4122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46820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Language Processor: </a:t>
            </a:r>
            <a:r>
              <a:rPr lang="en-US" sz="4000" cap="small" spc="0" dirty="0" smtClean="0">
                <a:solidFill>
                  <a:srgbClr val="575F6D"/>
                </a:solidFill>
                <a:latin typeface="Century Schoolbook"/>
              </a:rPr>
              <a:t>Assembler</a:t>
            </a:r>
            <a:endParaRPr lang="en-US" sz="4000" dirty="0"/>
          </a:p>
        </p:txBody>
      </p:sp>
      <p:sp>
        <p:nvSpPr>
          <p:cNvPr id="3" name="Content Placeholder 2"/>
          <p:cNvSpPr>
            <a:spLocks noGrp="1"/>
          </p:cNvSpPr>
          <p:nvPr>
            <p:ph idx="1"/>
          </p:nvPr>
        </p:nvSpPr>
        <p:spPr>
          <a:xfrm>
            <a:off x="1097280" y="1845734"/>
            <a:ext cx="10485120" cy="4023360"/>
          </a:xfrm>
        </p:spPr>
        <p:txBody>
          <a:bodyPr/>
          <a:lstStyle/>
          <a:p>
            <a:pPr marL="274320" lvl="0" indent="-274320">
              <a:lnSpc>
                <a:spcPct val="100000"/>
              </a:lnSpc>
              <a:spcBef>
                <a:spcPts val="600"/>
              </a:spcBef>
              <a:spcAft>
                <a:spcPts val="0"/>
              </a:spcAft>
              <a:buClr>
                <a:srgbClr val="FE8637"/>
              </a:buClr>
              <a:buSzPct val="70000"/>
              <a:buFont typeface="Wingdings"/>
              <a:buChar char=""/>
            </a:pPr>
            <a:r>
              <a:rPr lang="en-GB" sz="2400" dirty="0">
                <a:solidFill>
                  <a:prstClr val="black"/>
                </a:solidFill>
                <a:latin typeface="Century Schoolbook"/>
              </a:rPr>
              <a:t>The Assembler is used to translate the program written in Assembly language into </a:t>
            </a:r>
            <a:r>
              <a:rPr lang="en-GB" sz="2400" dirty="0" smtClean="0">
                <a:solidFill>
                  <a:prstClr val="black"/>
                </a:solidFill>
                <a:latin typeface="Century Schoolbook"/>
              </a:rPr>
              <a:t>machine code</a:t>
            </a:r>
            <a:r>
              <a:rPr lang="en-GB" sz="2400" dirty="0">
                <a:solidFill>
                  <a:prstClr val="black"/>
                </a:solidFill>
                <a:latin typeface="Century Schoolbook"/>
              </a:rPr>
              <a:t>. Assembly language is machine dependent yet mnemonics that are being used to represent instructions in it are not directly understandable by machine and high </a:t>
            </a:r>
            <a:r>
              <a:rPr lang="en-GB" sz="2400" dirty="0" smtClean="0">
                <a:solidFill>
                  <a:prstClr val="black"/>
                </a:solidFill>
                <a:latin typeface="Century Schoolbook"/>
              </a:rPr>
              <a:t>level </a:t>
            </a:r>
            <a:r>
              <a:rPr lang="en-GB" sz="2400" dirty="0">
                <a:solidFill>
                  <a:prstClr val="black"/>
                </a:solidFill>
                <a:latin typeface="Century Schoolbook"/>
              </a:rPr>
              <a:t>language is machine independent.</a:t>
            </a:r>
            <a:endParaRPr lang="en-US" sz="2400" dirty="0" smtClean="0">
              <a:solidFill>
                <a:prstClr val="black"/>
              </a:solidFill>
              <a:latin typeface="Century Schoolbook"/>
            </a:endParaRPr>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1427" y="5458416"/>
            <a:ext cx="5316704" cy="844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7280" y="3844670"/>
            <a:ext cx="6430297" cy="171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Rectangle 14"/>
          <p:cNvSpPr/>
          <p:nvPr/>
        </p:nvSpPr>
        <p:spPr>
          <a:xfrm>
            <a:off x="3545305" y="4042611"/>
            <a:ext cx="1576021" cy="4010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b="1" dirty="0" smtClean="0">
                <a:solidFill>
                  <a:schemeClr val="tx1"/>
                </a:solidFill>
              </a:rPr>
              <a:t>Assembler</a:t>
            </a:r>
            <a:endParaRPr lang="en-GB" sz="2000" b="1" dirty="0">
              <a:solidFill>
                <a:schemeClr val="tx1"/>
              </a:solidFill>
            </a:endParaRPr>
          </a:p>
        </p:txBody>
      </p:sp>
    </p:spTree>
    <p:extLst>
      <p:ext uri="{BB962C8B-B14F-4D97-AF65-F5344CB8AC3E}">
        <p14:creationId xmlns:p14="http://schemas.microsoft.com/office/powerpoint/2010/main" val="26192535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Other Language Processors: </a:t>
            </a:r>
            <a:endParaRPr lang="en-US" sz="4000" dirty="0"/>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3858" y="1848619"/>
            <a:ext cx="3834581" cy="4925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463366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Compilation </a:t>
            </a:r>
            <a:r>
              <a:rPr lang="en-US" sz="4000" cap="small" spc="0" dirty="0">
                <a:solidFill>
                  <a:srgbClr val="575F6D"/>
                </a:solidFill>
                <a:latin typeface="Century Schoolbook"/>
              </a:rPr>
              <a:t>task is full of </a:t>
            </a:r>
            <a:r>
              <a:rPr lang="en-US" sz="4000" cap="small" spc="0" dirty="0" smtClean="0">
                <a:solidFill>
                  <a:srgbClr val="575F6D"/>
                </a:solidFill>
                <a:latin typeface="Century Schoolbook"/>
              </a:rPr>
              <a:t>variety ?? </a:t>
            </a:r>
            <a:endParaRPr lang="en-US" sz="4000" dirty="0"/>
          </a:p>
        </p:txBody>
      </p:sp>
      <p:sp>
        <p:nvSpPr>
          <p:cNvPr id="3" name="Content Placeholder 2"/>
          <p:cNvSpPr>
            <a:spLocks noGrp="1"/>
          </p:cNvSpPr>
          <p:nvPr>
            <p:ph idx="1"/>
          </p:nvPr>
        </p:nvSpPr>
        <p:spPr>
          <a:xfrm>
            <a:off x="1097280" y="1845733"/>
            <a:ext cx="10058400" cy="4387115"/>
          </a:xfrm>
        </p:spPr>
        <p:txBody>
          <a:bodyPr>
            <a:normAutofit fontScale="92500" lnSpcReduction="10000"/>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Thousands of source </a:t>
            </a:r>
            <a:r>
              <a:rPr lang="en-US" sz="2400" dirty="0" smtClean="0">
                <a:solidFill>
                  <a:prstClr val="black"/>
                </a:solidFill>
                <a:latin typeface="Century Schoolbook"/>
              </a:rPr>
              <a:t>languages</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Fortran, Pascal, C, C++, Java, </a:t>
            </a:r>
            <a:r>
              <a:rPr lang="en-US" sz="2200" dirty="0" smtClean="0">
                <a:solidFill>
                  <a:prstClr val="black"/>
                </a:solidFill>
                <a:latin typeface="Century Schoolbook"/>
              </a:rPr>
              <a:t>……</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Thousands of target languages</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Some other lower level language (assembly language), machine language</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Compilation process has similar variety</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dirty="0">
                <a:solidFill>
                  <a:prstClr val="black"/>
                </a:solidFill>
                <a:latin typeface="Century Schoolbook"/>
              </a:rPr>
              <a:t>Single pass, multi-pass, load-and-go, debugging, optimizing</a:t>
            </a:r>
            <a:r>
              <a:rPr lang="en-US" sz="2200" dirty="0" smtClean="0">
                <a:solidFill>
                  <a:prstClr val="black"/>
                </a:solidFill>
                <a:latin typeface="Century Schoolbook"/>
              </a:rPr>
              <a:t>….</a:t>
            </a:r>
            <a:endParaRPr lang="en-US" sz="22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Variety </a:t>
            </a:r>
            <a:r>
              <a:rPr lang="en-US" sz="2400" dirty="0">
                <a:solidFill>
                  <a:prstClr val="black"/>
                </a:solidFill>
                <a:latin typeface="Century Schoolbook"/>
              </a:rPr>
              <a:t>is overwhelming</a:t>
            </a:r>
            <a:r>
              <a:rPr lang="en-US" sz="2400" dirty="0" smtClean="0">
                <a:solidFill>
                  <a:prstClr val="black"/>
                </a:solidFill>
                <a:latin typeface="Century Schoolbook"/>
              </a:rPr>
              <a:t>……</a:t>
            </a:r>
          </a:p>
          <a:p>
            <a:pPr marL="0" lvl="0" indent="0">
              <a:lnSpc>
                <a:spcPct val="100000"/>
              </a:lnSpc>
              <a:spcBef>
                <a:spcPts val="600"/>
              </a:spcBef>
              <a:spcAft>
                <a:spcPts val="0"/>
              </a:spcAft>
              <a:buClr>
                <a:srgbClr val="FE8637"/>
              </a:buClr>
              <a:buSzPct val="70000"/>
              <a:buNone/>
            </a:pPr>
            <a:endParaRPr lang="en-US" sz="2400" b="1" dirty="0" smtClean="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b="1" dirty="0" smtClean="0">
                <a:solidFill>
                  <a:prstClr val="black"/>
                </a:solidFill>
                <a:latin typeface="Century Schoolbook"/>
              </a:rPr>
              <a:t>Good </a:t>
            </a:r>
            <a:r>
              <a:rPr lang="en-US" sz="2400" b="1" dirty="0">
                <a:solidFill>
                  <a:prstClr val="black"/>
                </a:solidFill>
                <a:latin typeface="Century Schoolbook"/>
              </a:rPr>
              <a:t>news is: </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Few basic techniques is sufficient to cover all variety</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Many efficient tools are available</a:t>
            </a:r>
          </a:p>
          <a:p>
            <a:pPr marL="274320" lvl="0" indent="-274320">
              <a:lnSpc>
                <a:spcPct val="100000"/>
              </a:lnSpc>
              <a:spcBef>
                <a:spcPts val="600"/>
              </a:spcBef>
              <a:spcAft>
                <a:spcPts val="0"/>
              </a:spcAft>
              <a:buClr>
                <a:srgbClr val="FE8637"/>
              </a:buClr>
              <a:buSzPct val="70000"/>
              <a:buFont typeface="Wingdings"/>
              <a:buChar char=""/>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endParaRPr lang="en-US" dirty="0"/>
          </a:p>
        </p:txBody>
      </p:sp>
    </p:spTree>
    <p:extLst>
      <p:ext uri="{BB962C8B-B14F-4D97-AF65-F5344CB8AC3E}">
        <p14:creationId xmlns:p14="http://schemas.microsoft.com/office/powerpoint/2010/main" val="11225684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Job of 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We will study compilers that take as input programs in a high-level programming language and give as output programs in a low-level assembly language</a:t>
            </a:r>
            <a:r>
              <a:rPr lang="en-US" sz="2400" dirty="0" smtClean="0">
                <a:solidFill>
                  <a:prstClr val="black"/>
                </a:solidFill>
                <a:latin typeface="Century Schoolbook"/>
              </a:rPr>
              <a:t>.</a:t>
            </a:r>
            <a:endParaRPr lang="en-US" sz="2400" dirty="0">
              <a:solidFill>
                <a:prstClr val="black"/>
              </a:solidFill>
              <a:latin typeface="Century Schoolbook"/>
            </a:endParaRPr>
          </a:p>
          <a:p>
            <a:pPr marL="274320" lvl="0" indent="-274320">
              <a:lnSpc>
                <a:spcPct val="15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Such compilers have 3 jobs:</a:t>
            </a:r>
          </a:p>
          <a:p>
            <a:pPr marL="566928" lvl="1" indent="-274320">
              <a:lnSpc>
                <a:spcPct val="100000"/>
              </a:lnSpc>
              <a:spcBef>
                <a:spcPts val="600"/>
              </a:spcBef>
              <a:spcAft>
                <a:spcPts val="0"/>
              </a:spcAft>
              <a:buClr>
                <a:srgbClr val="FE8637"/>
              </a:buClr>
              <a:buSzPct val="70000"/>
              <a:buFont typeface="Wingdings"/>
              <a:buChar char=""/>
            </a:pPr>
            <a:r>
              <a:rPr lang="en-US" sz="2200" dirty="0" smtClean="0">
                <a:solidFill>
                  <a:prstClr val="black"/>
                </a:solidFill>
                <a:latin typeface="Century Schoolbook"/>
              </a:rPr>
              <a:t>TRANSLATION</a:t>
            </a:r>
            <a:endParaRPr lang="en-US" sz="2200" dirty="0">
              <a:solidFill>
                <a:prstClr val="black"/>
              </a:solidFill>
              <a:latin typeface="Century Schoolbook"/>
            </a:endParaRP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VALIDATION</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OPTIMIZATION</a:t>
            </a:r>
          </a:p>
        </p:txBody>
      </p:sp>
    </p:spTree>
    <p:extLst>
      <p:ext uri="{BB962C8B-B14F-4D97-AF65-F5344CB8AC3E}">
        <p14:creationId xmlns:p14="http://schemas.microsoft.com/office/powerpoint/2010/main" val="165560140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Why </a:t>
            </a:r>
            <a:r>
              <a:rPr lang="en-US" cap="small" spc="0" dirty="0">
                <a:solidFill>
                  <a:srgbClr val="575F6D"/>
                </a:solidFill>
                <a:latin typeface="Century Schoolbook"/>
              </a:rPr>
              <a:t>Study </a:t>
            </a:r>
            <a:r>
              <a:rPr lang="en-US" cap="small" spc="0" dirty="0" smtClean="0">
                <a:solidFill>
                  <a:srgbClr val="575F6D"/>
                </a:solidFill>
                <a:latin typeface="Century Schoolbook"/>
              </a:rPr>
              <a:t>Compiler?</a:t>
            </a:r>
            <a:endParaRPr lang="en-US"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be more effective users of compilers ... instead of treating a compiler as a “black box”.</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apply compiler techniques to typical SE tasks that require reading input and taking action.</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see how your core CS courses fit together, giving you the knowledge to construct a compiler.</a:t>
            </a: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To participate in R&amp;D of high-level programming languages and optimizing compilers.</a:t>
            </a:r>
          </a:p>
        </p:txBody>
      </p:sp>
    </p:spTree>
    <p:extLst>
      <p:ext uri="{BB962C8B-B14F-4D97-AF65-F5344CB8AC3E}">
        <p14:creationId xmlns:p14="http://schemas.microsoft.com/office/powerpoint/2010/main" val="32268571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smtClean="0">
                <a:solidFill>
                  <a:srgbClr val="575F6D"/>
                </a:solidFill>
                <a:latin typeface="Century Schoolbook"/>
              </a:rPr>
              <a:t>Challenges </a:t>
            </a:r>
            <a:r>
              <a:rPr lang="en-US" cap="small" spc="0" dirty="0">
                <a:solidFill>
                  <a:srgbClr val="575F6D"/>
                </a:solidFill>
                <a:latin typeface="Century Schoolbook"/>
              </a:rPr>
              <a:t>of Compiler Construction</a:t>
            </a:r>
            <a:endParaRPr lang="en-US" dirty="0"/>
          </a:p>
        </p:txBody>
      </p:sp>
      <p:sp>
        <p:nvSpPr>
          <p:cNvPr id="4" name="Content Placeholder 3"/>
          <p:cNvSpPr>
            <a:spLocks noGrp="1"/>
          </p:cNvSpPr>
          <p:nvPr>
            <p:ph idx="1"/>
          </p:nvPr>
        </p:nvSpPr>
        <p:spPr>
          <a:xfrm>
            <a:off x="1097280" y="1845734"/>
            <a:ext cx="10058400" cy="4314434"/>
          </a:xfrm>
        </p:spPr>
        <p:txBody>
          <a:bodyPr>
            <a:normAutofit fontScale="92500" lnSpcReduction="10000"/>
          </a:bodyPr>
          <a:lstStyle/>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Compiler construction poses challenging and </a:t>
            </a:r>
            <a:r>
              <a:rPr lang="en-US" sz="2400" dirty="0" smtClean="0">
                <a:solidFill>
                  <a:prstClr val="black"/>
                </a:solidFill>
                <a:latin typeface="Century Schoolbook"/>
              </a:rPr>
              <a:t>interesting problems</a:t>
            </a:r>
            <a:r>
              <a:rPr lang="en-US" sz="2400" dirty="0">
                <a:solidFill>
                  <a:prstClr val="black"/>
                </a:solidFill>
                <a:latin typeface="Century Schoolbook"/>
              </a:rPr>
              <a:t>:</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must process large inputs, perform complex algorithms, but also run quickly</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have primary responsibility for run-time performance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are responsible for making it acceptable to use the full power of the programming language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Computer architects perpetually create new challenges for the compiler by building more complex machine</a:t>
            </a:r>
          </a:p>
          <a:p>
            <a:pPr marL="566928" lvl="1" indent="-274320">
              <a:lnSpc>
                <a:spcPct val="10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Compilers must hide that complexity from the programmer</a:t>
            </a:r>
          </a:p>
          <a:p>
            <a:pPr marL="274320" lvl="0" indent="-274320">
              <a:lnSpc>
                <a:spcPct val="100000"/>
              </a:lnSpc>
              <a:spcBef>
                <a:spcPts val="600"/>
              </a:spcBef>
              <a:spcAft>
                <a:spcPts val="0"/>
              </a:spcAft>
              <a:buClr>
                <a:srgbClr val="FE8637"/>
              </a:buClr>
              <a:buSzPct val="70000"/>
              <a:buFont typeface="Wingdings"/>
              <a:buChar char=""/>
            </a:pPr>
            <a:endParaRPr lang="en-US" sz="2400"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r>
              <a:rPr lang="en-US" sz="2400" dirty="0" smtClean="0">
                <a:solidFill>
                  <a:prstClr val="black"/>
                </a:solidFill>
                <a:latin typeface="Century Schoolbook"/>
              </a:rPr>
              <a:t>A </a:t>
            </a:r>
            <a:r>
              <a:rPr lang="en-US" sz="2400" dirty="0">
                <a:solidFill>
                  <a:prstClr val="black"/>
                </a:solidFill>
                <a:latin typeface="Century Schoolbook"/>
              </a:rPr>
              <a:t>successful compiler requires mastery of the many complex interactions between its constituent </a:t>
            </a:r>
            <a:r>
              <a:rPr lang="en-US" sz="2400" dirty="0" smtClean="0">
                <a:solidFill>
                  <a:prstClr val="black"/>
                </a:solidFill>
                <a:latin typeface="Century Schoolbook"/>
              </a:rPr>
              <a:t>parts</a:t>
            </a:r>
            <a:endParaRPr lang="en-US" sz="2400" dirty="0">
              <a:solidFill>
                <a:prstClr val="black"/>
              </a:solidFill>
              <a:latin typeface="Century Schoolbook"/>
            </a:endParaRPr>
          </a:p>
        </p:txBody>
      </p:sp>
    </p:spTree>
    <p:extLst>
      <p:ext uri="{BB962C8B-B14F-4D97-AF65-F5344CB8AC3E}">
        <p14:creationId xmlns:p14="http://schemas.microsoft.com/office/powerpoint/2010/main" val="244784159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cap="small" spc="0" dirty="0">
                <a:solidFill>
                  <a:srgbClr val="575F6D"/>
                </a:solidFill>
                <a:latin typeface="Century Schoolbook"/>
              </a:rPr>
              <a:t>Compiler and other areas</a:t>
            </a:r>
            <a:endParaRPr lang="en-US" dirty="0"/>
          </a:p>
        </p:txBody>
      </p:sp>
      <p:sp>
        <p:nvSpPr>
          <p:cNvPr id="4" name="Content Placeholder 3"/>
          <p:cNvSpPr>
            <a:spLocks noGrp="1"/>
          </p:cNvSpPr>
          <p:nvPr>
            <p:ph idx="1"/>
          </p:nvPr>
        </p:nvSpPr>
        <p:spPr>
          <a:xfrm>
            <a:off x="1097280" y="1845734"/>
            <a:ext cx="10058400" cy="4314434"/>
          </a:xfrm>
        </p:spPr>
        <p:txBody>
          <a:bodyPr>
            <a:normAutofit/>
          </a:bodyPr>
          <a:lstStyle/>
          <a:p>
            <a:pPr marL="0" lvl="0" indent="0">
              <a:lnSpc>
                <a:spcPct val="100000"/>
              </a:lnSpc>
              <a:spcBef>
                <a:spcPts val="600"/>
              </a:spcBef>
              <a:spcAft>
                <a:spcPts val="0"/>
              </a:spcAft>
              <a:buClr>
                <a:srgbClr val="FE8637"/>
              </a:buClr>
              <a:buSzPct val="70000"/>
              <a:buNone/>
            </a:pPr>
            <a:r>
              <a:rPr lang="en-US" sz="2400" dirty="0">
                <a:solidFill>
                  <a:prstClr val="black"/>
                </a:solidFill>
                <a:latin typeface="Century Schoolbook"/>
              </a:rPr>
              <a:t>Compiler construction involves ideas from </a:t>
            </a:r>
            <a:r>
              <a:rPr lang="en-US" sz="2400" dirty="0" smtClean="0">
                <a:solidFill>
                  <a:prstClr val="black"/>
                </a:solidFill>
                <a:latin typeface="Century Schoolbook"/>
              </a:rPr>
              <a:t>different </a:t>
            </a:r>
            <a:r>
              <a:rPr lang="en-US" sz="2400" dirty="0">
                <a:solidFill>
                  <a:prstClr val="black"/>
                </a:solidFill>
                <a:latin typeface="Century Schoolbook"/>
              </a:rPr>
              <a:t>parts of computer science</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Artificial intelligence</a:t>
            </a:r>
            <a:r>
              <a:rPr lang="en-US" sz="2200" dirty="0">
                <a:solidFill>
                  <a:prstClr val="black"/>
                </a:solidFill>
                <a:latin typeface="Century Schoolbook"/>
              </a:rPr>
              <a:t>: Greedy algorithms, Heuristic search techniques</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Algorithms:</a:t>
            </a:r>
            <a:r>
              <a:rPr lang="en-US" sz="2200" dirty="0">
                <a:solidFill>
                  <a:prstClr val="black"/>
                </a:solidFill>
                <a:latin typeface="Century Schoolbook"/>
              </a:rPr>
              <a:t> Graph algorithms, Dynamic programming</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Theory of Automata</a:t>
            </a:r>
            <a:r>
              <a:rPr lang="en-US" sz="2200" dirty="0">
                <a:solidFill>
                  <a:prstClr val="black"/>
                </a:solidFill>
                <a:latin typeface="Century Schoolbook"/>
              </a:rPr>
              <a:t>: DFAs &amp; PDAs, pattern matching, regular expressions</a:t>
            </a:r>
          </a:p>
          <a:p>
            <a:pPr marL="566928" lvl="1"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Architecture:</a:t>
            </a:r>
            <a:r>
              <a:rPr lang="en-US" sz="2200" dirty="0">
                <a:solidFill>
                  <a:prstClr val="black"/>
                </a:solidFill>
                <a:latin typeface="Century Schoolbook"/>
              </a:rPr>
              <a:t> Pipelining and Instruction set </a:t>
            </a:r>
            <a:r>
              <a:rPr lang="en-US" sz="2200" dirty="0" smtClean="0">
                <a:solidFill>
                  <a:prstClr val="black"/>
                </a:solidFill>
                <a:latin typeface="Century Schoolbook"/>
              </a:rPr>
              <a:t>use</a:t>
            </a:r>
            <a:endParaRPr lang="en-US" sz="2200" dirty="0">
              <a:solidFill>
                <a:prstClr val="black"/>
              </a:solidFill>
              <a:latin typeface="Century Schoolbook"/>
            </a:endParaRPr>
          </a:p>
        </p:txBody>
      </p:sp>
    </p:spTree>
    <p:extLst>
      <p:ext uri="{BB962C8B-B14F-4D97-AF65-F5344CB8AC3E}">
        <p14:creationId xmlns:p14="http://schemas.microsoft.com/office/powerpoint/2010/main" val="15590194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Requirement</a:t>
            </a:r>
            <a:endParaRPr lang="en-US" sz="4000" dirty="0"/>
          </a:p>
        </p:txBody>
      </p:sp>
      <p:sp>
        <p:nvSpPr>
          <p:cNvPr id="3" name="Content Placeholder 2"/>
          <p:cNvSpPr>
            <a:spLocks noGrp="1"/>
          </p:cNvSpPr>
          <p:nvPr>
            <p:ph idx="1"/>
          </p:nvPr>
        </p:nvSpPr>
        <p:spPr>
          <a:xfrm>
            <a:off x="1097280" y="1845733"/>
            <a:ext cx="10058400" cy="4368455"/>
          </a:xfrm>
        </p:spPr>
        <p:txBody>
          <a:bodyPr>
            <a:normAutofit/>
          </a:bodyPr>
          <a:lstStyle/>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 order to translate statements in a language, one needs to understand both</a:t>
            </a: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b="1" dirty="0">
                <a:solidFill>
                  <a:prstClr val="black"/>
                </a:solidFill>
                <a:latin typeface="Century Schoolbook"/>
              </a:rPr>
              <a:t>S</a:t>
            </a:r>
            <a:r>
              <a:rPr lang="en-US" sz="2200" b="1" dirty="0" smtClean="0">
                <a:solidFill>
                  <a:prstClr val="black"/>
                </a:solidFill>
                <a:latin typeface="Century Schoolbook"/>
              </a:rPr>
              <a:t>tructure </a:t>
            </a:r>
            <a:r>
              <a:rPr lang="en-US" sz="2200" b="1" dirty="0">
                <a:solidFill>
                  <a:prstClr val="black"/>
                </a:solidFill>
                <a:latin typeface="Century Schoolbook"/>
              </a:rPr>
              <a:t>of the language</a:t>
            </a:r>
            <a:r>
              <a:rPr lang="en-US" sz="2200" dirty="0">
                <a:solidFill>
                  <a:prstClr val="black"/>
                </a:solidFill>
                <a:latin typeface="Century Schoolbook"/>
              </a:rPr>
              <a:t>: the way “sentences" are constructed in the </a:t>
            </a:r>
            <a:r>
              <a:rPr lang="en-US" sz="2200" dirty="0" smtClean="0">
                <a:solidFill>
                  <a:prstClr val="black"/>
                </a:solidFill>
                <a:latin typeface="Century Schoolbook"/>
              </a:rPr>
              <a:t>language</a:t>
            </a:r>
            <a:endParaRPr lang="en-US" sz="2200" dirty="0">
              <a:solidFill>
                <a:prstClr val="black"/>
              </a:solidFill>
              <a:latin typeface="Century Schoolbook"/>
            </a:endParaRPr>
          </a:p>
          <a:p>
            <a:pPr marL="635508" lvl="1" indent="-342900">
              <a:lnSpc>
                <a:spcPct val="100000"/>
              </a:lnSpc>
              <a:spcBef>
                <a:spcPts val="600"/>
              </a:spcBef>
              <a:spcAft>
                <a:spcPts val="0"/>
              </a:spcAft>
              <a:buClr>
                <a:srgbClr val="FE8637"/>
              </a:buClr>
              <a:buSzPct val="70000"/>
              <a:buFont typeface="Arial" panose="020B0604020202020204" pitchFamily="34" charset="0"/>
              <a:buChar char="•"/>
            </a:pPr>
            <a:r>
              <a:rPr lang="en-US" sz="2200" b="1" dirty="0">
                <a:solidFill>
                  <a:prstClr val="black"/>
                </a:solidFill>
                <a:latin typeface="Century Schoolbook"/>
              </a:rPr>
              <a:t>M</a:t>
            </a:r>
            <a:r>
              <a:rPr lang="en-US" sz="2200" b="1" dirty="0" smtClean="0">
                <a:solidFill>
                  <a:prstClr val="black"/>
                </a:solidFill>
                <a:latin typeface="Century Schoolbook"/>
              </a:rPr>
              <a:t>eaning </a:t>
            </a:r>
            <a:r>
              <a:rPr lang="en-US" sz="2200" b="1" dirty="0">
                <a:solidFill>
                  <a:prstClr val="black"/>
                </a:solidFill>
                <a:latin typeface="Century Schoolbook"/>
              </a:rPr>
              <a:t>of the language</a:t>
            </a:r>
            <a:r>
              <a:rPr lang="en-US" sz="2200" dirty="0">
                <a:solidFill>
                  <a:prstClr val="black"/>
                </a:solidFill>
                <a:latin typeface="Century Schoolbook"/>
              </a:rPr>
              <a:t>: what each “sentence" stands for</a:t>
            </a:r>
            <a:r>
              <a:rPr lang="en-US" sz="2200" dirty="0" smtClean="0">
                <a:solidFill>
                  <a:prstClr val="black"/>
                </a:solidFill>
                <a:latin typeface="Century Schoolbook"/>
              </a:rPr>
              <a:t>.</a:t>
            </a:r>
          </a:p>
          <a:p>
            <a:pPr marL="292608" lvl="1" indent="0">
              <a:lnSpc>
                <a:spcPct val="100000"/>
              </a:lnSpc>
              <a:spcBef>
                <a:spcPts val="600"/>
              </a:spcBef>
              <a:spcAft>
                <a:spcPts val="0"/>
              </a:spcAft>
              <a:buClr>
                <a:srgbClr val="FE8637"/>
              </a:buClr>
              <a:buSzPct val="70000"/>
              <a:buNone/>
            </a:pPr>
            <a:endParaRPr lang="en-US" sz="2200" dirty="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Terminology:</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Structure ≡ Syntax</a:t>
            </a:r>
          </a:p>
          <a:p>
            <a:pPr marL="635508" lvl="1" indent="-342900">
              <a:lnSpc>
                <a:spcPct val="10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Meaning ≡ </a:t>
            </a:r>
            <a:r>
              <a:rPr lang="en-US" sz="2200" dirty="0" smtClean="0">
                <a:solidFill>
                  <a:prstClr val="black"/>
                </a:solidFill>
                <a:latin typeface="Century Schoolbook"/>
              </a:rPr>
              <a:t>Semantics</a:t>
            </a:r>
            <a:endParaRPr lang="en-US" sz="2200" dirty="0">
              <a:solidFill>
                <a:prstClr val="black"/>
              </a:solidFill>
              <a:latin typeface="Century Schoolbook"/>
            </a:endParaRPr>
          </a:p>
        </p:txBody>
      </p:sp>
    </p:spTree>
    <p:extLst>
      <p:ext uri="{BB962C8B-B14F-4D97-AF65-F5344CB8AC3E}">
        <p14:creationId xmlns:p14="http://schemas.microsoft.com/office/powerpoint/2010/main" val="9406988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Analysis-Synthesis </a:t>
            </a:r>
            <a:r>
              <a:rPr lang="en-US" sz="4000" cap="small" spc="0" dirty="0">
                <a:solidFill>
                  <a:srgbClr val="575F6D"/>
                </a:solidFill>
                <a:latin typeface="Century Schoolbook"/>
              </a:rPr>
              <a:t>model of compilation</a:t>
            </a:r>
            <a:endParaRPr lang="en-US" sz="4000"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Two </a:t>
            </a:r>
            <a:r>
              <a:rPr lang="en-US" sz="2400" dirty="0">
                <a:solidFill>
                  <a:prstClr val="black"/>
                </a:solidFill>
                <a:latin typeface="Century Schoolbook"/>
              </a:rPr>
              <a:t>major </a:t>
            </a:r>
            <a:r>
              <a:rPr lang="en-US" sz="2400" dirty="0" smtClean="0">
                <a:solidFill>
                  <a:prstClr val="black"/>
                </a:solidFill>
                <a:latin typeface="Century Schoolbook"/>
              </a:rPr>
              <a:t>parts --</a:t>
            </a:r>
            <a:endParaRPr lang="en-US" sz="2400" b="1" dirty="0">
              <a:solidFill>
                <a:prstClr val="black"/>
              </a:solidFill>
              <a:latin typeface="Century Schoolbook"/>
            </a:endParaRPr>
          </a:p>
          <a:p>
            <a:pPr marL="640080" lvl="1" indent="-274320">
              <a:lnSpc>
                <a:spcPct val="100000"/>
              </a:lnSpc>
              <a:spcBef>
                <a:spcPct val="20000"/>
              </a:spcBef>
              <a:spcAft>
                <a:spcPts val="0"/>
              </a:spcAft>
              <a:buClr>
                <a:srgbClr val="FE8637"/>
              </a:buClr>
              <a:buSzPct val="80000"/>
              <a:buFont typeface="Wingdings 2"/>
              <a:buChar char=""/>
            </a:pPr>
            <a:r>
              <a:rPr lang="en-US" sz="2400" b="1" dirty="0" smtClean="0">
                <a:solidFill>
                  <a:prstClr val="black"/>
                </a:solidFill>
                <a:latin typeface="Century Schoolbook"/>
              </a:rPr>
              <a:t>Analysis</a:t>
            </a:r>
            <a:r>
              <a:rPr lang="en-US" sz="2400" dirty="0" smtClean="0">
                <a:solidFill>
                  <a:prstClr val="black"/>
                </a:solidFill>
                <a:latin typeface="Century Schoolbook"/>
              </a:rPr>
              <a:t>: an </a:t>
            </a:r>
            <a:r>
              <a:rPr lang="en-US" sz="2400" dirty="0">
                <a:solidFill>
                  <a:prstClr val="black"/>
                </a:solidFill>
                <a:latin typeface="Century Schoolbook"/>
              </a:rPr>
              <a:t>intermediate representation is created from the given source program. </a:t>
            </a:r>
            <a:endParaRPr lang="en-US" sz="2400" dirty="0" smtClean="0">
              <a:solidFill>
                <a:prstClr val="black"/>
              </a:solidFill>
              <a:latin typeface="Century Schoolbook"/>
            </a:endParaRPr>
          </a:p>
          <a:p>
            <a:pPr marL="365760" lvl="1" indent="0">
              <a:lnSpc>
                <a:spcPct val="100000"/>
              </a:lnSpc>
              <a:spcBef>
                <a:spcPct val="20000"/>
              </a:spcBef>
              <a:spcAft>
                <a:spcPts val="0"/>
              </a:spcAft>
              <a:buClr>
                <a:srgbClr val="FE8637"/>
              </a:buClr>
              <a:buSzPct val="80000"/>
              <a:buNone/>
            </a:pPr>
            <a:r>
              <a:rPr lang="en-US" sz="2400" i="1" dirty="0" smtClean="0">
                <a:solidFill>
                  <a:srgbClr val="FE8637">
                    <a:lumMod val="75000"/>
                  </a:srgbClr>
                </a:solidFill>
                <a:latin typeface="Century Schoolbook"/>
                <a:ea typeface="ＭＳ Ｐゴシック" panose="020B0600070205080204" pitchFamily="34" charset="-128"/>
              </a:rPr>
              <a:t>   Lexical </a:t>
            </a:r>
            <a:r>
              <a:rPr lang="en-US" sz="2400" i="1" dirty="0">
                <a:solidFill>
                  <a:srgbClr val="FE8637">
                    <a:lumMod val="75000"/>
                  </a:srgbClr>
                </a:solidFill>
                <a:latin typeface="Century Schoolbook"/>
                <a:ea typeface="ＭＳ Ｐゴシック" panose="020B0600070205080204" pitchFamily="34" charset="-128"/>
              </a:rPr>
              <a:t>Analyzer, Syntax Analyzer and Semantic Analyzer </a:t>
            </a:r>
            <a:endParaRPr lang="en-US" sz="2400" dirty="0" smtClean="0">
              <a:solidFill>
                <a:prstClr val="black"/>
              </a:solidFill>
              <a:latin typeface="Century Schoolbook"/>
            </a:endParaRPr>
          </a:p>
          <a:p>
            <a:pPr marL="640080" lvl="1" indent="-274320">
              <a:lnSpc>
                <a:spcPct val="100000"/>
              </a:lnSpc>
              <a:spcBef>
                <a:spcPct val="20000"/>
              </a:spcBef>
              <a:spcAft>
                <a:spcPts val="0"/>
              </a:spcAft>
              <a:buClr>
                <a:srgbClr val="FE8637"/>
              </a:buClr>
              <a:buSzPct val="80000"/>
              <a:buFont typeface="Wingdings 2"/>
              <a:buChar char=""/>
            </a:pPr>
            <a:r>
              <a:rPr lang="en-US" sz="2400" b="1" dirty="0" smtClean="0">
                <a:solidFill>
                  <a:prstClr val="black"/>
                </a:solidFill>
                <a:latin typeface="Century Schoolbook"/>
              </a:rPr>
              <a:t>Synthesis</a:t>
            </a:r>
            <a:r>
              <a:rPr lang="en-US" sz="2400" dirty="0" smtClean="0">
                <a:solidFill>
                  <a:prstClr val="black"/>
                </a:solidFill>
                <a:latin typeface="Century Schoolbook"/>
              </a:rPr>
              <a:t>: </a:t>
            </a:r>
            <a:r>
              <a:rPr lang="en-US" sz="2400" dirty="0">
                <a:solidFill>
                  <a:prstClr val="black"/>
                </a:solidFill>
                <a:latin typeface="Century Schoolbook"/>
              </a:rPr>
              <a:t>the equivalent target program is created from this intermediate </a:t>
            </a:r>
            <a:r>
              <a:rPr lang="en-US" sz="2400" dirty="0" smtClean="0">
                <a:solidFill>
                  <a:prstClr val="black"/>
                </a:solidFill>
                <a:latin typeface="Century Schoolbook"/>
              </a:rPr>
              <a:t>representation</a:t>
            </a:r>
          </a:p>
          <a:p>
            <a:pPr marL="365760" lvl="1" indent="0">
              <a:lnSpc>
                <a:spcPct val="100000"/>
              </a:lnSpc>
              <a:spcBef>
                <a:spcPct val="20000"/>
              </a:spcBef>
              <a:spcAft>
                <a:spcPts val="0"/>
              </a:spcAft>
              <a:buClr>
                <a:srgbClr val="FE8637"/>
              </a:buClr>
              <a:buSzPct val="80000"/>
              <a:buNone/>
            </a:pPr>
            <a:r>
              <a:rPr lang="en-US" sz="2400" i="1" dirty="0" smtClean="0">
                <a:solidFill>
                  <a:srgbClr val="FE8637">
                    <a:lumMod val="75000"/>
                  </a:srgbClr>
                </a:solidFill>
                <a:latin typeface="Century Schoolbook"/>
                <a:ea typeface="ＭＳ Ｐゴシック" panose="020B0600070205080204" pitchFamily="34" charset="-128"/>
              </a:rPr>
              <a:t>   Intermediate </a:t>
            </a:r>
            <a:r>
              <a:rPr lang="en-US" sz="2400" i="1" dirty="0">
                <a:solidFill>
                  <a:srgbClr val="FE8637">
                    <a:lumMod val="75000"/>
                  </a:srgbClr>
                </a:solidFill>
                <a:latin typeface="Century Schoolbook"/>
                <a:ea typeface="ＭＳ Ｐゴシック" panose="020B0600070205080204" pitchFamily="34" charset="-128"/>
              </a:rPr>
              <a:t>Code Generator, Code Optimizer, and Code Generator</a:t>
            </a:r>
            <a:endParaRPr lang="en-US" sz="2400" dirty="0">
              <a:solidFill>
                <a:prstClr val="black"/>
              </a:solidFill>
              <a:latin typeface="Century Schoolbook"/>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03987" y="4883780"/>
            <a:ext cx="6725265" cy="14321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915760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Phases of Compiler </a:t>
            </a:r>
            <a:endParaRPr lang="en-US" sz="4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84598" y="1780173"/>
            <a:ext cx="5067973" cy="4603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2198029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Compilation Steps/Phases</a:t>
            </a:r>
            <a:endParaRPr lang="en-US" sz="4000" dirty="0"/>
          </a:p>
        </p:txBody>
      </p:sp>
      <p:sp>
        <p:nvSpPr>
          <p:cNvPr id="3" name="Content Placeholder 2"/>
          <p:cNvSpPr>
            <a:spLocks noGrp="1"/>
          </p:cNvSpPr>
          <p:nvPr>
            <p:ph idx="1"/>
          </p:nvPr>
        </p:nvSpPr>
        <p:spPr>
          <a:xfrm>
            <a:off x="1097280" y="1845733"/>
            <a:ext cx="10058400" cy="4387115"/>
          </a:xfrm>
        </p:spPr>
        <p:txBody>
          <a:bodyPr>
            <a:normAutofit/>
          </a:bodyPr>
          <a:lstStyle/>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Lexical </a:t>
            </a:r>
            <a:r>
              <a:rPr lang="en-US" sz="2200" b="1" dirty="0" smtClean="0">
                <a:solidFill>
                  <a:prstClr val="black"/>
                </a:solidFill>
                <a:latin typeface="Century Schoolbook"/>
              </a:rPr>
              <a:t>Analysis</a:t>
            </a:r>
            <a:r>
              <a:rPr lang="en-US" sz="2200" dirty="0" smtClean="0">
                <a:solidFill>
                  <a:prstClr val="black"/>
                </a:solidFill>
                <a:latin typeface="Century Schoolbook"/>
              </a:rPr>
              <a:t>: </a:t>
            </a:r>
            <a:r>
              <a:rPr lang="en-US" sz="2200" dirty="0">
                <a:solidFill>
                  <a:prstClr val="black"/>
                </a:solidFill>
                <a:latin typeface="Century Schoolbook"/>
              </a:rPr>
              <a:t>Generates the “tokens” in the source program</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Syntax </a:t>
            </a:r>
            <a:r>
              <a:rPr lang="en-US" sz="2200" b="1" dirty="0" smtClean="0">
                <a:solidFill>
                  <a:prstClr val="black"/>
                </a:solidFill>
                <a:latin typeface="Century Schoolbook"/>
              </a:rPr>
              <a:t>Analysis</a:t>
            </a:r>
            <a:r>
              <a:rPr lang="en-US" sz="2200" dirty="0" smtClean="0">
                <a:solidFill>
                  <a:prstClr val="black"/>
                </a:solidFill>
                <a:latin typeface="Century Schoolbook"/>
              </a:rPr>
              <a:t>: </a:t>
            </a:r>
            <a:r>
              <a:rPr lang="en-US" sz="2200" dirty="0">
                <a:solidFill>
                  <a:prstClr val="black"/>
                </a:solidFill>
                <a:latin typeface="Century Schoolbook"/>
              </a:rPr>
              <a:t>Recognizes “sentences" in the program using the syntax of the language</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Semantic </a:t>
            </a:r>
            <a:r>
              <a:rPr lang="en-US" sz="2200" b="1" dirty="0" smtClean="0">
                <a:solidFill>
                  <a:prstClr val="black"/>
                </a:solidFill>
                <a:latin typeface="Century Schoolbook"/>
              </a:rPr>
              <a:t>Analysis</a:t>
            </a:r>
            <a:r>
              <a:rPr lang="en-US" sz="2200" dirty="0" smtClean="0">
                <a:solidFill>
                  <a:prstClr val="black"/>
                </a:solidFill>
                <a:latin typeface="Century Schoolbook"/>
              </a:rPr>
              <a:t>: </a:t>
            </a:r>
            <a:r>
              <a:rPr lang="en-US" sz="2200" dirty="0">
                <a:solidFill>
                  <a:prstClr val="black"/>
                </a:solidFill>
                <a:latin typeface="Century Schoolbook"/>
              </a:rPr>
              <a:t>Infers information about the program using the semantics of the </a:t>
            </a:r>
            <a:r>
              <a:rPr lang="en-US" sz="2200" dirty="0" smtClean="0">
                <a:solidFill>
                  <a:prstClr val="black"/>
                </a:solidFill>
                <a:latin typeface="Century Schoolbook"/>
              </a:rPr>
              <a:t>language</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Intermediate Code </a:t>
            </a:r>
            <a:r>
              <a:rPr lang="en-US" sz="2200" b="1" dirty="0" smtClean="0">
                <a:solidFill>
                  <a:prstClr val="black"/>
                </a:solidFill>
                <a:latin typeface="Century Schoolbook"/>
              </a:rPr>
              <a:t>Generation</a:t>
            </a:r>
            <a:r>
              <a:rPr lang="en-US" sz="2200" dirty="0" smtClean="0">
                <a:solidFill>
                  <a:prstClr val="black"/>
                </a:solidFill>
                <a:latin typeface="Century Schoolbook"/>
              </a:rPr>
              <a:t>: </a:t>
            </a:r>
            <a:r>
              <a:rPr lang="en-US" sz="2200" dirty="0">
                <a:solidFill>
                  <a:prstClr val="black"/>
                </a:solidFill>
                <a:latin typeface="Century Schoolbook"/>
              </a:rPr>
              <a:t>Generates “abstract” code based on the syntactic structure of the program and the semantic information</a:t>
            </a:r>
          </a:p>
          <a:p>
            <a:pPr marL="274320" lvl="0" indent="-274320">
              <a:lnSpc>
                <a:spcPct val="100000"/>
              </a:lnSpc>
              <a:spcBef>
                <a:spcPts val="600"/>
              </a:spcBef>
              <a:spcAft>
                <a:spcPts val="0"/>
              </a:spcAft>
              <a:buClr>
                <a:srgbClr val="FE8637"/>
              </a:buClr>
              <a:buSzPct val="70000"/>
              <a:buFont typeface="Wingdings"/>
              <a:buChar char=""/>
            </a:pPr>
            <a:r>
              <a:rPr lang="en-US" sz="2200" b="1" dirty="0" smtClean="0">
                <a:solidFill>
                  <a:prstClr val="black"/>
                </a:solidFill>
                <a:latin typeface="Century Schoolbook"/>
              </a:rPr>
              <a:t>Optimization</a:t>
            </a:r>
            <a:r>
              <a:rPr lang="en-US" sz="2200" dirty="0" smtClean="0">
                <a:solidFill>
                  <a:prstClr val="black"/>
                </a:solidFill>
                <a:latin typeface="Century Schoolbook"/>
              </a:rPr>
              <a:t>: </a:t>
            </a:r>
            <a:r>
              <a:rPr lang="en-US" sz="2200" dirty="0">
                <a:solidFill>
                  <a:prstClr val="black"/>
                </a:solidFill>
                <a:latin typeface="Century Schoolbook"/>
              </a:rPr>
              <a:t>Refines the generated code using a series of optimizing </a:t>
            </a:r>
            <a:r>
              <a:rPr lang="en-US" sz="2200" dirty="0" smtClean="0">
                <a:solidFill>
                  <a:prstClr val="black"/>
                </a:solidFill>
                <a:latin typeface="Century Schoolbook"/>
              </a:rPr>
              <a:t>transformations</a:t>
            </a:r>
          </a:p>
          <a:p>
            <a:pPr marL="274320" lvl="0" indent="-274320">
              <a:lnSpc>
                <a:spcPct val="100000"/>
              </a:lnSpc>
              <a:spcBef>
                <a:spcPts val="600"/>
              </a:spcBef>
              <a:spcAft>
                <a:spcPts val="0"/>
              </a:spcAft>
              <a:buClr>
                <a:srgbClr val="FE8637"/>
              </a:buClr>
              <a:buSzPct val="70000"/>
              <a:buFont typeface="Wingdings"/>
              <a:buChar char=""/>
            </a:pPr>
            <a:r>
              <a:rPr lang="en-US" sz="2200" b="1" dirty="0">
                <a:solidFill>
                  <a:prstClr val="black"/>
                </a:solidFill>
                <a:latin typeface="Century Schoolbook"/>
              </a:rPr>
              <a:t>Final Code </a:t>
            </a:r>
            <a:r>
              <a:rPr lang="en-US" sz="2200" b="1" dirty="0" smtClean="0">
                <a:solidFill>
                  <a:prstClr val="black"/>
                </a:solidFill>
                <a:latin typeface="Century Schoolbook"/>
              </a:rPr>
              <a:t>Generation</a:t>
            </a:r>
            <a:r>
              <a:rPr lang="en-US" sz="2200" dirty="0" smtClean="0">
                <a:solidFill>
                  <a:prstClr val="black"/>
                </a:solidFill>
                <a:latin typeface="Century Schoolbook"/>
              </a:rPr>
              <a:t>: </a:t>
            </a:r>
            <a:r>
              <a:rPr lang="en-US" sz="2200" dirty="0">
                <a:solidFill>
                  <a:prstClr val="black"/>
                </a:solidFill>
                <a:latin typeface="Century Schoolbook"/>
              </a:rPr>
              <a:t>Translates the abstract intermediate code into specific machine </a:t>
            </a:r>
            <a:r>
              <a:rPr lang="en-US" sz="2200" dirty="0" smtClean="0">
                <a:solidFill>
                  <a:prstClr val="black"/>
                </a:solidFill>
                <a:latin typeface="Century Schoolbook"/>
              </a:rPr>
              <a:t>instructions</a:t>
            </a:r>
            <a:endParaRPr lang="en-US" sz="2200" b="1" dirty="0" smtClean="0">
              <a:solidFill>
                <a:prstClr val="black"/>
              </a:solidFill>
              <a:latin typeface="Century Schoolbook"/>
            </a:endParaRPr>
          </a:p>
          <a:p>
            <a:pPr marL="0" lvl="0" indent="0">
              <a:lnSpc>
                <a:spcPct val="100000"/>
              </a:lnSpc>
              <a:spcBef>
                <a:spcPts val="600"/>
              </a:spcBef>
              <a:spcAft>
                <a:spcPts val="0"/>
              </a:spcAft>
              <a:buClr>
                <a:srgbClr val="FE8637"/>
              </a:buClr>
              <a:buSzPct val="70000"/>
              <a:buNone/>
            </a:pPr>
            <a:endParaRPr lang="en-US" sz="2400" b="1" dirty="0">
              <a:solidFill>
                <a:prstClr val="black"/>
              </a:solidFill>
              <a:latin typeface="Century Schoolbook"/>
            </a:endParaRPr>
          </a:p>
          <a:p>
            <a:pPr marL="0" lvl="0" indent="0">
              <a:lnSpc>
                <a:spcPct val="100000"/>
              </a:lnSpc>
              <a:spcBef>
                <a:spcPts val="600"/>
              </a:spcBef>
              <a:spcAft>
                <a:spcPts val="0"/>
              </a:spcAft>
              <a:buClr>
                <a:srgbClr val="FE8637"/>
              </a:buClr>
              <a:buSzPct val="70000"/>
              <a:buNone/>
            </a:pPr>
            <a:endParaRPr lang="en-US" sz="2400" dirty="0" smtClean="0">
              <a:solidFill>
                <a:prstClr val="black"/>
              </a:solidFill>
              <a:latin typeface="Century Schoolbook"/>
            </a:endParaRPr>
          </a:p>
          <a:p>
            <a:pPr marL="274320" lvl="0" indent="-274320">
              <a:lnSpc>
                <a:spcPct val="100000"/>
              </a:lnSpc>
              <a:spcBef>
                <a:spcPts val="600"/>
              </a:spcBef>
              <a:spcAft>
                <a:spcPts val="0"/>
              </a:spcAft>
              <a:buClr>
                <a:srgbClr val="FE8637"/>
              </a:buClr>
              <a:buSzPct val="70000"/>
              <a:buFont typeface="Wingdings"/>
              <a:buChar char=""/>
            </a:pPr>
            <a:endParaRPr lang="en-US" dirty="0"/>
          </a:p>
        </p:txBody>
      </p:sp>
    </p:spTree>
    <p:extLst>
      <p:ext uri="{BB962C8B-B14F-4D97-AF65-F5344CB8AC3E}">
        <p14:creationId xmlns:p14="http://schemas.microsoft.com/office/powerpoint/2010/main" val="5916068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Lexical </a:t>
            </a:r>
            <a:r>
              <a:rPr lang="en-US" sz="4000" cap="small" spc="0" dirty="0">
                <a:solidFill>
                  <a:srgbClr val="575F6D"/>
                </a:solidFill>
                <a:latin typeface="Century Schoolbook"/>
              </a:rPr>
              <a:t>Analysis</a:t>
            </a:r>
            <a:endParaRPr lang="en-US" sz="4000" dirty="0"/>
          </a:p>
        </p:txBody>
      </p:sp>
      <p:sp>
        <p:nvSpPr>
          <p:cNvPr id="3" name="Content Placeholder 2"/>
          <p:cNvSpPr>
            <a:spLocks noGrp="1"/>
          </p:cNvSpPr>
          <p:nvPr>
            <p:ph idx="1"/>
          </p:nvPr>
        </p:nvSpPr>
        <p:spPr>
          <a:xfrm>
            <a:off x="1097280" y="1845734"/>
            <a:ext cx="10058400" cy="4319092"/>
          </a:xfrm>
        </p:spPr>
        <p:txBody>
          <a:bodyPr>
            <a:normAutofit fontScale="77500" lnSpcReduction="2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Convert the stream of characters representing input program into a meaningful sequences called </a:t>
            </a:r>
            <a:r>
              <a:rPr lang="en-US" sz="2400" dirty="0" smtClean="0">
                <a:solidFill>
                  <a:srgbClr val="0070C0"/>
                </a:solidFill>
                <a:latin typeface="Century Schoolbook"/>
              </a:rPr>
              <a:t>lexemes</a:t>
            </a:r>
            <a:r>
              <a:rPr lang="en-US" sz="2400" dirty="0" smtClean="0">
                <a:solidFill>
                  <a:prstClr val="black"/>
                </a:solidFill>
                <a:latin typeface="Century Schoolbook"/>
              </a:rPr>
              <a:t>.</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For each lexeme, the lexical </a:t>
            </a:r>
            <a:r>
              <a:rPr lang="en-GB" sz="2400" dirty="0" err="1">
                <a:solidFill>
                  <a:prstClr val="black"/>
                </a:solidFill>
                <a:latin typeface="Century Schoolbook"/>
              </a:rPr>
              <a:t>analyzer</a:t>
            </a:r>
            <a:r>
              <a:rPr lang="en-GB" sz="2400" dirty="0">
                <a:solidFill>
                  <a:prstClr val="black"/>
                </a:solidFill>
                <a:latin typeface="Century Schoolbook"/>
              </a:rPr>
              <a:t> produces as output </a:t>
            </a:r>
            <a:endParaRPr lang="en-GB" sz="2400"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a:t>
            </a:r>
            <a:r>
              <a:rPr lang="en-GB" sz="2400" dirty="0" smtClean="0">
                <a:solidFill>
                  <a:prstClr val="black"/>
                </a:solidFill>
                <a:latin typeface="Century Schoolbook"/>
              </a:rPr>
              <a:t>  A token </a:t>
            </a:r>
            <a:r>
              <a:rPr lang="en-GB" sz="2400" dirty="0">
                <a:solidFill>
                  <a:prstClr val="black"/>
                </a:solidFill>
                <a:latin typeface="Century Schoolbook"/>
              </a:rPr>
              <a:t>of the </a:t>
            </a:r>
            <a:r>
              <a:rPr lang="en-GB" sz="2400" dirty="0" smtClean="0">
                <a:solidFill>
                  <a:prstClr val="black"/>
                </a:solidFill>
                <a:latin typeface="Century Schoolbook"/>
              </a:rPr>
              <a:t>form:</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a:t>
            </a:r>
            <a:r>
              <a:rPr lang="en-US" sz="2400" dirty="0" smtClean="0">
                <a:solidFill>
                  <a:prstClr val="black"/>
                </a:solidFill>
                <a:latin typeface="Century Schoolbook"/>
              </a:rPr>
              <a:t>                       &lt; </a:t>
            </a:r>
            <a:r>
              <a:rPr lang="en-US" sz="2400" b="1" dirty="0" smtClean="0">
                <a:solidFill>
                  <a:prstClr val="black"/>
                </a:solidFill>
                <a:latin typeface="Century Schoolbook"/>
              </a:rPr>
              <a:t>token-name, attribute-value</a:t>
            </a:r>
            <a:r>
              <a:rPr lang="en-US" sz="2400" dirty="0" smtClean="0">
                <a:solidFill>
                  <a:prstClr val="black"/>
                </a:solidFill>
                <a:latin typeface="Century Schoolbook"/>
              </a:rPr>
              <a:t> &gt;</a:t>
            </a:r>
          </a:p>
          <a:p>
            <a:pPr lvl="0">
              <a:lnSpc>
                <a:spcPct val="120000"/>
              </a:lnSpc>
              <a:spcBef>
                <a:spcPts val="600"/>
              </a:spcBef>
              <a:spcAft>
                <a:spcPts val="0"/>
              </a:spcAft>
              <a:buClr>
                <a:srgbClr val="FE8637"/>
              </a:buClr>
              <a:buSzPct val="70000"/>
            </a:pPr>
            <a:r>
              <a:rPr lang="en-US" sz="2400" b="1" dirty="0" smtClean="0">
                <a:solidFill>
                  <a:prstClr val="black"/>
                </a:solidFill>
                <a:latin typeface="Century Schoolbook"/>
              </a:rPr>
              <a:t>token-name </a:t>
            </a:r>
            <a:r>
              <a:rPr lang="en-US" sz="2400" b="1" dirty="0" smtClean="0">
                <a:solidFill>
                  <a:prstClr val="black"/>
                </a:solidFill>
                <a:latin typeface="Century Schoolbook"/>
                <a:sym typeface="Wingdings" panose="05000000000000000000" pitchFamily="2" charset="2"/>
              </a:rPr>
              <a:t> </a:t>
            </a:r>
            <a:r>
              <a:rPr lang="en-GB" sz="2400" dirty="0">
                <a:solidFill>
                  <a:prstClr val="black"/>
                </a:solidFill>
                <a:latin typeface="Century Schoolbook"/>
                <a:sym typeface="Wingdings" panose="05000000000000000000" pitchFamily="2" charset="2"/>
              </a:rPr>
              <a:t>an </a:t>
            </a:r>
            <a:r>
              <a:rPr lang="en-GB" sz="2400" dirty="0" smtClean="0">
                <a:solidFill>
                  <a:prstClr val="black"/>
                </a:solidFill>
                <a:latin typeface="Century Schoolbook"/>
                <a:sym typeface="Wingdings" panose="05000000000000000000" pitchFamily="2" charset="2"/>
              </a:rPr>
              <a:t>abstract symbol </a:t>
            </a:r>
            <a:r>
              <a:rPr lang="en-GB" sz="2400" dirty="0">
                <a:solidFill>
                  <a:prstClr val="black"/>
                </a:solidFill>
                <a:latin typeface="Century Schoolbook"/>
                <a:sym typeface="Wingdings" panose="05000000000000000000" pitchFamily="2" charset="2"/>
              </a:rPr>
              <a:t>that is used during syntax analysis</a:t>
            </a:r>
            <a:endParaRPr lang="en-US" sz="2400" dirty="0" smtClean="0">
              <a:solidFill>
                <a:prstClr val="black"/>
              </a:solidFill>
              <a:latin typeface="Century Schoolbook"/>
              <a:sym typeface="Wingdings" panose="05000000000000000000" pitchFamily="2" charset="2"/>
            </a:endParaRPr>
          </a:p>
          <a:p>
            <a:pPr lvl="0">
              <a:lnSpc>
                <a:spcPct val="120000"/>
              </a:lnSpc>
              <a:spcBef>
                <a:spcPts val="600"/>
              </a:spcBef>
              <a:spcAft>
                <a:spcPts val="0"/>
              </a:spcAft>
              <a:buClr>
                <a:srgbClr val="FE8637"/>
              </a:buClr>
              <a:buSzPct val="70000"/>
            </a:pPr>
            <a:r>
              <a:rPr lang="en-US" sz="2400" b="1" dirty="0" smtClean="0">
                <a:solidFill>
                  <a:prstClr val="black"/>
                </a:solidFill>
                <a:latin typeface="Century Schoolbook"/>
              </a:rPr>
              <a:t>attribute-value</a:t>
            </a:r>
            <a:r>
              <a:rPr lang="en-US" sz="2400" b="1" dirty="0" smtClean="0">
                <a:solidFill>
                  <a:prstClr val="black"/>
                </a:solidFill>
                <a:latin typeface="Century Schoolbook"/>
                <a:sym typeface="Wingdings" panose="05000000000000000000" pitchFamily="2" charset="2"/>
              </a:rPr>
              <a:t> </a:t>
            </a:r>
            <a:r>
              <a:rPr lang="en-GB" sz="2400" dirty="0">
                <a:solidFill>
                  <a:prstClr val="black"/>
                </a:solidFill>
                <a:latin typeface="Century Schoolbook"/>
                <a:sym typeface="Wingdings" panose="05000000000000000000" pitchFamily="2" charset="2"/>
              </a:rPr>
              <a:t>points to an entry in the </a:t>
            </a:r>
            <a:r>
              <a:rPr lang="en-GB" sz="2400" dirty="0" smtClean="0">
                <a:solidFill>
                  <a:prstClr val="black"/>
                </a:solidFill>
                <a:latin typeface="Century Schoolbook"/>
                <a:sym typeface="Wingdings" panose="05000000000000000000" pitchFamily="2" charset="2"/>
              </a:rPr>
              <a:t>symbol table </a:t>
            </a:r>
            <a:r>
              <a:rPr lang="en-GB" sz="2400" dirty="0">
                <a:solidFill>
                  <a:prstClr val="black"/>
                </a:solidFill>
                <a:latin typeface="Century Schoolbook"/>
                <a:sym typeface="Wingdings" panose="05000000000000000000" pitchFamily="2" charset="2"/>
              </a:rPr>
              <a:t>for this token</a:t>
            </a:r>
            <a:endParaRPr lang="en-US" sz="2400" dirty="0" smtClean="0">
              <a:solidFill>
                <a:prstClr val="black"/>
              </a:solidFill>
              <a:latin typeface="Century Schoolbook"/>
            </a:endParaRPr>
          </a:p>
          <a:p>
            <a:pPr marL="274320" lvl="0" indent="-274320">
              <a:lnSpc>
                <a:spcPct val="150000"/>
              </a:lnSpc>
              <a:spcBef>
                <a:spcPts val="600"/>
              </a:spcBef>
              <a:spcAft>
                <a:spcPts val="0"/>
              </a:spcAft>
              <a:buClr>
                <a:srgbClr val="FE8637"/>
              </a:buClr>
              <a:buSzPct val="70000"/>
              <a:buFont typeface="Wingdings"/>
              <a:buChar char=""/>
            </a:pPr>
            <a:r>
              <a:rPr lang="en-US" sz="2400" b="1" dirty="0" smtClean="0">
                <a:solidFill>
                  <a:prstClr val="black"/>
                </a:solidFill>
                <a:latin typeface="Century Schoolbook"/>
              </a:rPr>
              <a:t>Example</a:t>
            </a:r>
            <a:r>
              <a:rPr lang="en-US" sz="2400" dirty="0" smtClean="0">
                <a:solidFill>
                  <a:prstClr val="black"/>
                </a:solidFill>
                <a:latin typeface="Century Schoolbook"/>
              </a:rPr>
              <a:t>:</a:t>
            </a:r>
            <a:endParaRPr lang="en-US" sz="2400" dirty="0">
              <a:solidFill>
                <a:prstClr val="black"/>
              </a:solidFill>
              <a:latin typeface="Century Schoolbook"/>
            </a:endParaRPr>
          </a:p>
          <a:p>
            <a:pPr marL="365760" lvl="1" indent="0">
              <a:lnSpc>
                <a:spcPct val="11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Input: “*x++"       </a:t>
            </a:r>
            <a:r>
              <a:rPr lang="en-US" sz="2400" i="1" dirty="0" smtClean="0">
                <a:solidFill>
                  <a:srgbClr val="FE8637">
                    <a:lumMod val="75000"/>
                  </a:srgbClr>
                </a:solidFill>
                <a:latin typeface="Century Schoolbook"/>
                <a:ea typeface="ＭＳ Ｐゴシック" panose="020B0600070205080204" pitchFamily="34" charset="-128"/>
              </a:rPr>
              <a:t>        Output</a:t>
            </a:r>
            <a:r>
              <a:rPr lang="en-US" sz="2400" i="1" dirty="0">
                <a:solidFill>
                  <a:srgbClr val="FE8637">
                    <a:lumMod val="75000"/>
                  </a:srgbClr>
                </a:solidFill>
                <a:latin typeface="Century Schoolbook"/>
                <a:ea typeface="ＭＳ Ｐゴシック" panose="020B0600070205080204" pitchFamily="34" charset="-128"/>
              </a:rPr>
              <a:t>: three </a:t>
            </a:r>
            <a:r>
              <a:rPr lang="en-US" sz="2400" i="1" dirty="0" smtClean="0">
                <a:solidFill>
                  <a:srgbClr val="FE8637">
                    <a:lumMod val="75000"/>
                  </a:srgbClr>
                </a:solidFill>
                <a:latin typeface="Century Schoolbook"/>
                <a:ea typeface="ＭＳ Ｐゴシック" panose="020B0600070205080204" pitchFamily="34" charset="-128"/>
              </a:rPr>
              <a:t>tokens</a:t>
            </a:r>
            <a:r>
              <a:rPr lang="en-US" sz="2400" i="1" dirty="0">
                <a:solidFill>
                  <a:srgbClr val="FE8637">
                    <a:lumMod val="75000"/>
                  </a:srgbClr>
                </a:solidFill>
                <a:latin typeface="Century Schoolbook"/>
                <a:ea typeface="ＭＳ Ｐゴシック" panose="020B0600070205080204" pitchFamily="34" charset="-128"/>
              </a:rPr>
              <a:t> </a:t>
            </a:r>
            <a:r>
              <a:rPr lang="en-US" sz="2400" i="1" dirty="0" smtClean="0">
                <a:solidFill>
                  <a:srgbClr val="FE8637">
                    <a:lumMod val="75000"/>
                  </a:srgbClr>
                </a:solidFill>
                <a:latin typeface="Century Schoolbook"/>
                <a:ea typeface="ＭＳ Ｐゴシック" panose="020B0600070205080204" pitchFamily="34" charset="-128"/>
                <a:sym typeface="Wingdings" panose="05000000000000000000" pitchFamily="2" charset="2"/>
              </a:rPr>
              <a:t> </a:t>
            </a:r>
            <a:r>
              <a:rPr lang="en-US" sz="2400" i="1" dirty="0" smtClean="0">
                <a:solidFill>
                  <a:srgbClr val="FE8637">
                    <a:lumMod val="75000"/>
                  </a:srgbClr>
                </a:solidFill>
                <a:latin typeface="Century Schoolbook"/>
                <a:ea typeface="ＭＳ Ｐゴシック" panose="020B0600070205080204" pitchFamily="34" charset="-128"/>
              </a:rPr>
              <a:t>“*", </a:t>
            </a:r>
            <a:r>
              <a:rPr lang="en-US" sz="2400" i="1" dirty="0">
                <a:solidFill>
                  <a:srgbClr val="FE8637">
                    <a:lumMod val="75000"/>
                  </a:srgbClr>
                </a:solidFill>
                <a:latin typeface="Century Schoolbook"/>
                <a:ea typeface="ＭＳ Ｐゴシック" panose="020B0600070205080204" pitchFamily="34" charset="-128"/>
              </a:rPr>
              <a:t>“x</a:t>
            </a:r>
            <a:r>
              <a:rPr lang="en-US" sz="2400" i="1" dirty="0" smtClean="0">
                <a:solidFill>
                  <a:srgbClr val="FE8637">
                    <a:lumMod val="75000"/>
                  </a:srgbClr>
                </a:solidFill>
                <a:latin typeface="Century Schoolbook"/>
                <a:ea typeface="ＭＳ Ｐゴシック" panose="020B0600070205080204" pitchFamily="34" charset="-128"/>
              </a:rPr>
              <a:t>", “++" </a:t>
            </a:r>
            <a:r>
              <a:rPr lang="en-US" sz="2400" i="1" dirty="0">
                <a:solidFill>
                  <a:srgbClr val="FE8637">
                    <a:lumMod val="75000"/>
                  </a:srgbClr>
                </a:solidFill>
                <a:latin typeface="Century Schoolbook"/>
                <a:ea typeface="ＭＳ Ｐゴシック" panose="020B0600070205080204" pitchFamily="34" charset="-128"/>
              </a:rPr>
              <a:t>	</a:t>
            </a:r>
            <a:endParaRPr lang="en-US" sz="2400" i="1" dirty="0" smtClean="0">
              <a:solidFill>
                <a:srgbClr val="FE8637">
                  <a:lumMod val="75000"/>
                </a:srgbClr>
              </a:solidFill>
              <a:latin typeface="Century Schoolbook"/>
              <a:ea typeface="ＭＳ Ｐゴシック" panose="020B0600070205080204" pitchFamily="34" charset="-128"/>
            </a:endParaRPr>
          </a:p>
          <a:p>
            <a:pPr marL="365760" lvl="1" indent="0">
              <a:lnSpc>
                <a:spcPct val="110000"/>
              </a:lnSpc>
              <a:spcBef>
                <a:spcPct val="20000"/>
              </a:spcBef>
              <a:spcAft>
                <a:spcPts val="0"/>
              </a:spcAft>
              <a:buClr>
                <a:srgbClr val="FE8637"/>
              </a:buClr>
              <a:buSzPct val="80000"/>
              <a:buNone/>
            </a:pPr>
            <a:r>
              <a:rPr lang="en-US" sz="2400" i="1" dirty="0">
                <a:solidFill>
                  <a:srgbClr val="FE8637">
                    <a:lumMod val="75000"/>
                  </a:srgbClr>
                </a:solidFill>
                <a:latin typeface="Century Schoolbook"/>
                <a:ea typeface="ＭＳ Ｐゴシック" panose="020B0600070205080204" pitchFamily="34" charset="-128"/>
              </a:rPr>
              <a:t>	</a:t>
            </a:r>
            <a:r>
              <a:rPr lang="en-US" sz="2400" i="1" dirty="0" smtClean="0">
                <a:solidFill>
                  <a:srgbClr val="FE8637">
                    <a:lumMod val="75000"/>
                  </a:srgbClr>
                </a:solidFill>
                <a:latin typeface="Century Schoolbook"/>
                <a:ea typeface="ＭＳ Ｐゴシック" panose="020B0600070205080204" pitchFamily="34" charset="-128"/>
              </a:rPr>
              <a:t>Input</a:t>
            </a:r>
            <a:r>
              <a:rPr lang="en-US" sz="2400" i="1" dirty="0">
                <a:solidFill>
                  <a:srgbClr val="FE8637">
                    <a:lumMod val="75000"/>
                  </a:srgbClr>
                </a:solidFill>
                <a:latin typeface="Century Schoolbook"/>
                <a:ea typeface="ＭＳ Ｐゴシック" panose="020B0600070205080204" pitchFamily="34" charset="-128"/>
              </a:rPr>
              <a:t>: “static </a:t>
            </a:r>
            <a:r>
              <a:rPr lang="en-US" sz="2400" i="1" dirty="0" err="1">
                <a:solidFill>
                  <a:srgbClr val="FE8637">
                    <a:lumMod val="75000"/>
                  </a:srgbClr>
                </a:solidFill>
                <a:latin typeface="Century Schoolbook"/>
                <a:ea typeface="ＭＳ Ｐゴシック" panose="020B0600070205080204" pitchFamily="34" charset="-128"/>
              </a:rPr>
              <a:t>int</a:t>
            </a:r>
            <a:r>
              <a:rPr lang="en-US" sz="2400" i="1" dirty="0">
                <a:solidFill>
                  <a:srgbClr val="FE8637">
                    <a:lumMod val="75000"/>
                  </a:srgbClr>
                </a:solidFill>
                <a:latin typeface="Century Schoolbook"/>
                <a:ea typeface="ＭＳ Ｐゴシック" panose="020B0600070205080204" pitchFamily="34" charset="-128"/>
              </a:rPr>
              <a:t>"        Output: two tokens: </a:t>
            </a:r>
            <a:r>
              <a:rPr lang="en-US" sz="2400" i="1" dirty="0" smtClean="0">
                <a:solidFill>
                  <a:srgbClr val="FE8637">
                    <a:lumMod val="75000"/>
                  </a:srgbClr>
                </a:solidFill>
                <a:latin typeface="Century Schoolbook"/>
                <a:ea typeface="ＭＳ Ｐゴシック" panose="020B0600070205080204" pitchFamily="34" charset="-128"/>
                <a:sym typeface="Wingdings" panose="05000000000000000000" pitchFamily="2" charset="2"/>
              </a:rPr>
              <a:t> </a:t>
            </a:r>
            <a:r>
              <a:rPr lang="en-US" sz="2400" i="1" dirty="0">
                <a:solidFill>
                  <a:srgbClr val="FE8637">
                    <a:lumMod val="75000"/>
                  </a:srgbClr>
                </a:solidFill>
                <a:latin typeface="Century Schoolbook"/>
                <a:ea typeface="ＭＳ Ｐゴシック" panose="020B0600070205080204" pitchFamily="34" charset="-128"/>
              </a:rPr>
              <a:t>“</a:t>
            </a:r>
            <a:r>
              <a:rPr lang="en-US" sz="2400" i="1" dirty="0" smtClean="0">
                <a:solidFill>
                  <a:srgbClr val="FE8637">
                    <a:lumMod val="75000"/>
                  </a:srgbClr>
                </a:solidFill>
                <a:latin typeface="Century Schoolbook"/>
                <a:ea typeface="ＭＳ Ｐゴシック" panose="020B0600070205080204" pitchFamily="34" charset="-128"/>
              </a:rPr>
              <a:t>static" , </a:t>
            </a:r>
            <a:r>
              <a:rPr lang="en-US" sz="2400" i="1" dirty="0">
                <a:solidFill>
                  <a:srgbClr val="FE8637">
                    <a:lumMod val="75000"/>
                  </a:srgbClr>
                </a:solidFill>
                <a:latin typeface="Century Schoolbook"/>
                <a:ea typeface="ＭＳ Ｐゴシック" panose="020B0600070205080204" pitchFamily="34" charset="-128"/>
              </a:rPr>
              <a:t>“</a:t>
            </a:r>
            <a:r>
              <a:rPr lang="en-US" sz="2400" i="1" dirty="0" err="1">
                <a:solidFill>
                  <a:srgbClr val="FE8637">
                    <a:lumMod val="75000"/>
                  </a:srgbClr>
                </a:solidFill>
                <a:latin typeface="Century Schoolbook"/>
                <a:ea typeface="ＭＳ Ｐゴシック" panose="020B0600070205080204" pitchFamily="34" charset="-128"/>
              </a:rPr>
              <a:t>int</a:t>
            </a:r>
            <a:r>
              <a:rPr lang="en-US" sz="2400" i="1" dirty="0">
                <a:solidFill>
                  <a:srgbClr val="FE8637">
                    <a:lumMod val="75000"/>
                  </a:srgbClr>
                </a:solidFill>
                <a:latin typeface="Century Schoolbook"/>
                <a:ea typeface="ＭＳ Ｐゴシック" panose="020B0600070205080204" pitchFamily="34" charset="-128"/>
              </a:rPr>
              <a:t>"</a:t>
            </a:r>
          </a:p>
          <a:p>
            <a:pPr marL="365760" lvl="1" indent="0">
              <a:lnSpc>
                <a:spcPct val="110000"/>
              </a:lnSpc>
              <a:spcBef>
                <a:spcPct val="20000"/>
              </a:spcBef>
              <a:spcAft>
                <a:spcPts val="0"/>
              </a:spcAft>
              <a:buClr>
                <a:srgbClr val="FE8637"/>
              </a:buClr>
              <a:buSzPct val="80000"/>
              <a:buNone/>
            </a:pPr>
            <a:endParaRPr lang="en-US" sz="2400" i="1" dirty="0" smtClean="0">
              <a:solidFill>
                <a:srgbClr val="FE8637">
                  <a:lumMod val="75000"/>
                </a:srgbClr>
              </a:solidFill>
              <a:latin typeface="Century Schoolbook"/>
              <a:ea typeface="ＭＳ Ｐゴシック" panose="020B0600070205080204" pitchFamily="34" charset="-128"/>
            </a:endParaRPr>
          </a:p>
          <a:p>
            <a:pPr marL="640080" lvl="1" indent="-274320">
              <a:lnSpc>
                <a:spcPct val="80000"/>
              </a:lnSpc>
              <a:spcBef>
                <a:spcPct val="20000"/>
              </a:spcBef>
              <a:spcAft>
                <a:spcPts val="0"/>
              </a:spcAft>
              <a:buClr>
                <a:srgbClr val="FE8637"/>
              </a:buClr>
              <a:buSzPct val="80000"/>
              <a:buFont typeface="Wingdings 2"/>
              <a:buChar char=""/>
            </a:pPr>
            <a:r>
              <a:rPr lang="en-US" sz="2400" dirty="0" smtClean="0">
                <a:solidFill>
                  <a:prstClr val="black"/>
                </a:solidFill>
                <a:latin typeface="Century Schoolbook"/>
              </a:rPr>
              <a:t>Removes </a:t>
            </a:r>
            <a:r>
              <a:rPr lang="en-US" sz="2400" dirty="0">
                <a:solidFill>
                  <a:prstClr val="black"/>
                </a:solidFill>
                <a:latin typeface="Century Schoolbook"/>
              </a:rPr>
              <a:t>the white </a:t>
            </a:r>
            <a:r>
              <a:rPr lang="en-US" sz="2400" dirty="0" smtClean="0">
                <a:solidFill>
                  <a:prstClr val="black"/>
                </a:solidFill>
                <a:latin typeface="Century Schoolbook"/>
              </a:rPr>
              <a:t>spaces, comments</a:t>
            </a:r>
            <a:endParaRPr lang="en-US" sz="2400" dirty="0">
              <a:solidFill>
                <a:prstClr val="black"/>
              </a:solidFill>
              <a:latin typeface="Century Schoolbook"/>
            </a:endParaRPr>
          </a:p>
          <a:p>
            <a:pPr marL="365760" lvl="1" indent="0">
              <a:lnSpc>
                <a:spcPct val="8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4509653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Lexical </a:t>
            </a:r>
            <a:r>
              <a:rPr lang="en-US" sz="4000" cap="small" spc="0" dirty="0">
                <a:solidFill>
                  <a:srgbClr val="575F6D"/>
                </a:solidFill>
                <a:latin typeface="Century Schoolbook"/>
              </a:rPr>
              <a:t>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Input: result = a + b * 10</a:t>
            </a:r>
          </a:p>
          <a:p>
            <a:pPr marL="274320" lvl="0" indent="-274320">
              <a:lnSpc>
                <a:spcPct val="12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Tokens :</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800" dirty="0" smtClean="0"/>
              <a:t>		‘</a:t>
            </a:r>
            <a:r>
              <a:rPr lang="en-US" sz="2800" dirty="0"/>
              <a:t>result’,  ‘=‘, ‘a’, ‘+’, ‘b’, ‘*’, ‘10’</a:t>
            </a: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grpSp>
        <p:nvGrpSpPr>
          <p:cNvPr id="19" name="Group 70"/>
          <p:cNvGrpSpPr>
            <a:grpSpLocks/>
          </p:cNvGrpSpPr>
          <p:nvPr/>
        </p:nvGrpSpPr>
        <p:grpSpPr bwMode="auto">
          <a:xfrm>
            <a:off x="3363295" y="3397250"/>
            <a:ext cx="3703638" cy="1555750"/>
            <a:chOff x="1171" y="2140"/>
            <a:chExt cx="2333" cy="980"/>
          </a:xfrm>
        </p:grpSpPr>
        <p:sp>
          <p:nvSpPr>
            <p:cNvPr id="24" name="Line 56"/>
            <p:cNvSpPr>
              <a:spLocks noChangeShapeType="1"/>
            </p:cNvSpPr>
            <p:nvPr/>
          </p:nvSpPr>
          <p:spPr bwMode="auto">
            <a:xfrm flipH="1" flipV="1">
              <a:off x="1824" y="2208"/>
              <a:ext cx="1680" cy="912"/>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5" name="Line 57"/>
            <p:cNvSpPr>
              <a:spLocks noChangeShapeType="1"/>
            </p:cNvSpPr>
            <p:nvPr/>
          </p:nvSpPr>
          <p:spPr bwMode="auto">
            <a:xfrm flipH="1" flipV="1">
              <a:off x="3024" y="2140"/>
              <a:ext cx="480" cy="980"/>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7" name="Line 60"/>
            <p:cNvSpPr>
              <a:spLocks noChangeShapeType="1"/>
            </p:cNvSpPr>
            <p:nvPr/>
          </p:nvSpPr>
          <p:spPr bwMode="auto">
            <a:xfrm flipH="1" flipV="1">
              <a:off x="1171" y="2160"/>
              <a:ext cx="509" cy="94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8" name="Line 61"/>
            <p:cNvSpPr>
              <a:spLocks noChangeShapeType="1"/>
            </p:cNvSpPr>
            <p:nvPr/>
          </p:nvSpPr>
          <p:spPr bwMode="auto">
            <a:xfrm flipV="1">
              <a:off x="1872" y="2140"/>
              <a:ext cx="192" cy="96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29" name="Line 62"/>
            <p:cNvSpPr>
              <a:spLocks noChangeShapeType="1"/>
            </p:cNvSpPr>
            <p:nvPr/>
          </p:nvSpPr>
          <p:spPr bwMode="auto">
            <a:xfrm flipV="1">
              <a:off x="1968" y="2157"/>
              <a:ext cx="672" cy="946"/>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30" name="Line 63"/>
            <p:cNvSpPr>
              <a:spLocks noChangeShapeType="1"/>
            </p:cNvSpPr>
            <p:nvPr/>
          </p:nvSpPr>
          <p:spPr bwMode="auto">
            <a:xfrm flipV="1">
              <a:off x="2064" y="2140"/>
              <a:ext cx="1248" cy="963"/>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31" name="Line 65"/>
            <p:cNvSpPr>
              <a:spLocks noChangeShapeType="1"/>
            </p:cNvSpPr>
            <p:nvPr/>
          </p:nvSpPr>
          <p:spPr bwMode="auto">
            <a:xfrm flipH="1" flipV="1">
              <a:off x="1824" y="2208"/>
              <a:ext cx="1680" cy="912"/>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sp>
          <p:nvSpPr>
            <p:cNvPr id="32" name="Line 66"/>
            <p:cNvSpPr>
              <a:spLocks noChangeShapeType="1"/>
            </p:cNvSpPr>
            <p:nvPr/>
          </p:nvSpPr>
          <p:spPr bwMode="auto">
            <a:xfrm flipH="1" flipV="1">
              <a:off x="2352" y="2157"/>
              <a:ext cx="1152" cy="963"/>
            </a:xfrm>
            <a:prstGeom prst="line">
              <a:avLst/>
            </a:prstGeom>
            <a:noFill/>
            <a:ln w="9525">
              <a:solidFill>
                <a:srgbClr val="3333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srgbClr val="000000"/>
                </a:solidFill>
                <a:effectLst/>
                <a:uLnTx/>
                <a:uFillTx/>
                <a:latin typeface="Arial" panose="020B0604020202020204" pitchFamily="34" charset="0"/>
              </a:endParaRPr>
            </a:p>
          </p:txBody>
        </p:sp>
      </p:grpSp>
      <p:sp>
        <p:nvSpPr>
          <p:cNvPr id="34" name="TextBox 33"/>
          <p:cNvSpPr txBox="1"/>
          <p:nvPr/>
        </p:nvSpPr>
        <p:spPr>
          <a:xfrm>
            <a:off x="6146170" y="5061374"/>
            <a:ext cx="1841525" cy="395173"/>
          </a:xfrm>
          <a:prstGeom prst="rect">
            <a:avLst/>
          </a:prstGeom>
          <a:noFill/>
        </p:spPr>
        <p:txBody>
          <a:bodyPr wrap="square" rtlCol="0">
            <a:spAutoFit/>
          </a:bodyPr>
          <a:lstStyle/>
          <a:p>
            <a:pPr marL="365760" lvl="1" indent="0">
              <a:lnSpc>
                <a:spcPct val="80000"/>
              </a:lnSpc>
              <a:spcBef>
                <a:spcPct val="20000"/>
              </a:spcBef>
              <a:spcAft>
                <a:spcPts val="0"/>
              </a:spcAft>
              <a:buClr>
                <a:srgbClr val="FE8637"/>
              </a:buClr>
              <a:buSzPct val="80000"/>
              <a:buNone/>
            </a:pPr>
            <a:r>
              <a:rPr lang="en-US" sz="2400"/>
              <a:t>operators</a:t>
            </a:r>
            <a:endParaRPr lang="en-US" sz="2400" dirty="0"/>
          </a:p>
        </p:txBody>
      </p:sp>
      <p:sp>
        <p:nvSpPr>
          <p:cNvPr id="35" name="TextBox 34"/>
          <p:cNvSpPr txBox="1"/>
          <p:nvPr/>
        </p:nvSpPr>
        <p:spPr>
          <a:xfrm>
            <a:off x="3396608" y="5034335"/>
            <a:ext cx="1841525" cy="395173"/>
          </a:xfrm>
          <a:prstGeom prst="rect">
            <a:avLst/>
          </a:prstGeom>
          <a:noFill/>
        </p:spPr>
        <p:txBody>
          <a:bodyPr wrap="square" rtlCol="0">
            <a:spAutoFit/>
          </a:bodyPr>
          <a:lstStyle/>
          <a:p>
            <a:pPr marL="365760" lvl="1" indent="0">
              <a:lnSpc>
                <a:spcPct val="80000"/>
              </a:lnSpc>
              <a:spcBef>
                <a:spcPct val="20000"/>
              </a:spcBef>
              <a:spcAft>
                <a:spcPts val="0"/>
              </a:spcAft>
              <a:buClr>
                <a:srgbClr val="FE8637"/>
              </a:buClr>
              <a:buSzPct val="80000"/>
              <a:buNone/>
            </a:pPr>
            <a:r>
              <a:rPr lang="en-US" sz="2400" dirty="0"/>
              <a:t>identifiers</a:t>
            </a:r>
          </a:p>
        </p:txBody>
      </p:sp>
    </p:spTree>
    <p:extLst>
      <p:ext uri="{BB962C8B-B14F-4D97-AF65-F5344CB8AC3E}">
        <p14:creationId xmlns:p14="http://schemas.microsoft.com/office/powerpoint/2010/main" val="4880254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Lexical </a:t>
            </a:r>
            <a:r>
              <a:rPr lang="en-US" sz="4000" cap="small" spc="0" dirty="0">
                <a:solidFill>
                  <a:srgbClr val="575F6D"/>
                </a:solidFill>
                <a:latin typeface="Century Schoolbook"/>
              </a:rPr>
              <a:t>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Input: </a:t>
            </a:r>
            <a:endParaRPr lang="en-US" sz="2400" dirty="0" smtClean="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Output: Sequence of tokens </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800" dirty="0" smtClean="0"/>
              <a:t>		</a:t>
            </a:r>
            <a:endParaRPr lang="en-US" sz="2400" dirty="0">
              <a:solidFill>
                <a:srgbClr val="FE8637">
                  <a:lumMod val="75000"/>
                </a:srgbClr>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2326246" y="1934244"/>
            <a:ext cx="4909374" cy="422182"/>
          </a:xfrm>
          <a:prstGeom prst="rect">
            <a:avLst/>
          </a:prstGeom>
        </p:spPr>
      </p:pic>
      <p:pic>
        <p:nvPicPr>
          <p:cNvPr id="5" name="Picture 4"/>
          <p:cNvPicPr>
            <a:picLocks noChangeAspect="1"/>
          </p:cNvPicPr>
          <p:nvPr/>
        </p:nvPicPr>
        <p:blipFill>
          <a:blip r:embed="rId4"/>
          <a:stretch>
            <a:fillRect/>
          </a:stretch>
        </p:blipFill>
        <p:spPr>
          <a:xfrm>
            <a:off x="2656387" y="3005977"/>
            <a:ext cx="4876767" cy="490257"/>
          </a:xfrm>
          <a:prstGeom prst="rect">
            <a:avLst/>
          </a:prstGeom>
        </p:spPr>
      </p:pic>
      <p:sp>
        <p:nvSpPr>
          <p:cNvPr id="7" name="Rectangle 6"/>
          <p:cNvSpPr/>
          <p:nvPr/>
        </p:nvSpPr>
        <p:spPr>
          <a:xfrm>
            <a:off x="1097280" y="3937460"/>
            <a:ext cx="10177912" cy="830997"/>
          </a:xfrm>
          <a:prstGeom prst="rect">
            <a:avLst/>
          </a:prstGeom>
        </p:spPr>
        <p:txBody>
          <a:bodyPr wrap="square">
            <a:spAutoFit/>
          </a:bodyPr>
          <a:lstStyle/>
          <a:p>
            <a:pPr marL="285750" indent="-285750">
              <a:buFont typeface="Arial" panose="020B0604020202020204" pitchFamily="34" charset="0"/>
              <a:buChar char="•"/>
            </a:pPr>
            <a:r>
              <a:rPr lang="en-GB" sz="2400" dirty="0"/>
              <a:t>In this representation, the </a:t>
            </a:r>
            <a:r>
              <a:rPr lang="en-GB" sz="2400" dirty="0" smtClean="0"/>
              <a:t>token names </a:t>
            </a:r>
            <a:r>
              <a:rPr lang="en-GB" sz="2400" dirty="0">
                <a:solidFill>
                  <a:srgbClr val="0070C0"/>
                </a:solidFill>
              </a:rPr>
              <a:t>=</a:t>
            </a:r>
            <a:r>
              <a:rPr lang="en-GB" sz="2400" dirty="0"/>
              <a:t>, </a:t>
            </a:r>
            <a:r>
              <a:rPr lang="en-GB" sz="2400" dirty="0">
                <a:solidFill>
                  <a:srgbClr val="0070C0"/>
                </a:solidFill>
              </a:rPr>
              <a:t>+</a:t>
            </a:r>
            <a:r>
              <a:rPr lang="en-GB" sz="2400" dirty="0"/>
              <a:t>, and </a:t>
            </a:r>
            <a:r>
              <a:rPr lang="en-GB" sz="2400" dirty="0">
                <a:solidFill>
                  <a:srgbClr val="0070C0"/>
                </a:solidFill>
              </a:rPr>
              <a:t>*</a:t>
            </a:r>
            <a:r>
              <a:rPr lang="en-GB" sz="2400" dirty="0"/>
              <a:t> are </a:t>
            </a:r>
            <a:r>
              <a:rPr lang="en-GB" sz="2400" dirty="0" smtClean="0"/>
              <a:t>abstract symbols </a:t>
            </a:r>
            <a:r>
              <a:rPr lang="en-GB" sz="2400" dirty="0"/>
              <a:t>for </a:t>
            </a:r>
            <a:r>
              <a:rPr lang="en-GB" sz="2400" dirty="0" smtClean="0"/>
              <a:t>the </a:t>
            </a:r>
            <a:r>
              <a:rPr lang="en-GB" sz="2400" b="1" dirty="0" smtClean="0"/>
              <a:t>assignment</a:t>
            </a:r>
            <a:r>
              <a:rPr lang="en-GB" sz="2400" dirty="0" smtClean="0"/>
              <a:t>, </a:t>
            </a:r>
            <a:r>
              <a:rPr lang="en-GB" sz="2400" b="1" dirty="0" smtClean="0"/>
              <a:t>addition</a:t>
            </a:r>
            <a:r>
              <a:rPr lang="en-GB" sz="2400" dirty="0"/>
              <a:t>, and </a:t>
            </a:r>
            <a:r>
              <a:rPr lang="en-GB" sz="2400" b="1" dirty="0" smtClean="0"/>
              <a:t>multiplication</a:t>
            </a:r>
            <a:r>
              <a:rPr lang="en-GB" sz="2400" dirty="0" smtClean="0"/>
              <a:t> operators</a:t>
            </a:r>
            <a:r>
              <a:rPr lang="en-GB" sz="2400" dirty="0"/>
              <a:t>, respectively.</a:t>
            </a:r>
          </a:p>
        </p:txBody>
      </p:sp>
      <p:pic>
        <p:nvPicPr>
          <p:cNvPr id="8" name="Picture 7"/>
          <p:cNvPicPr>
            <a:picLocks noChangeAspect="1"/>
          </p:cNvPicPr>
          <p:nvPr/>
        </p:nvPicPr>
        <p:blipFill>
          <a:blip r:embed="rId5"/>
          <a:stretch>
            <a:fillRect/>
          </a:stretch>
        </p:blipFill>
        <p:spPr>
          <a:xfrm>
            <a:off x="8033246" y="2300473"/>
            <a:ext cx="1923796" cy="1692941"/>
          </a:xfrm>
          <a:prstGeom prst="rect">
            <a:avLst/>
          </a:prstGeom>
        </p:spPr>
      </p:pic>
    </p:spTree>
    <p:extLst>
      <p:ext uri="{BB962C8B-B14F-4D97-AF65-F5344CB8AC3E}">
        <p14:creationId xmlns:p14="http://schemas.microsoft.com/office/powerpoint/2010/main" val="129928628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Syntax </a:t>
            </a:r>
            <a:r>
              <a:rPr lang="en-US" sz="4000" cap="small" spc="0" dirty="0">
                <a:solidFill>
                  <a:srgbClr val="575F6D"/>
                </a:solidFill>
                <a:latin typeface="Century Schoolbook"/>
              </a:rPr>
              <a:t>Analysis (Parsing)</a:t>
            </a:r>
            <a:endParaRPr lang="en-US" sz="4000" dirty="0"/>
          </a:p>
        </p:txBody>
      </p:sp>
      <p:sp>
        <p:nvSpPr>
          <p:cNvPr id="3" name="Content Placeholder 2"/>
          <p:cNvSpPr>
            <a:spLocks noGrp="1"/>
          </p:cNvSpPr>
          <p:nvPr>
            <p:ph idx="1"/>
          </p:nvPr>
        </p:nvSpPr>
        <p:spPr>
          <a:xfrm>
            <a:off x="1097280" y="1845734"/>
            <a:ext cx="10615108" cy="4319092"/>
          </a:xfrm>
        </p:spPr>
        <p:txBody>
          <a:bodyPr>
            <a:normAutofit/>
          </a:bodyPr>
          <a:lstStyle/>
          <a:p>
            <a:pPr marL="274320" indent="-274320">
              <a:lnSpc>
                <a:spcPct val="12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Build </a:t>
            </a:r>
            <a:r>
              <a:rPr lang="en-US" sz="2400" dirty="0">
                <a:solidFill>
                  <a:prstClr val="black"/>
                </a:solidFill>
                <a:latin typeface="Century Schoolbook"/>
              </a:rPr>
              <a:t>a tree called a parse tree that reflects the structure of the input sentence</a:t>
            </a:r>
            <a:r>
              <a:rPr lang="en-US" sz="2400" dirty="0" smtClean="0">
                <a:solidFill>
                  <a:prstClr val="black"/>
                </a:solidFill>
                <a:latin typeface="Century Schoolbook"/>
              </a:rPr>
              <a:t>.</a:t>
            </a:r>
          </a:p>
          <a:p>
            <a:pPr marL="274320" indent="-274320">
              <a:lnSpc>
                <a:spcPct val="120000"/>
              </a:lnSpc>
              <a:spcBef>
                <a:spcPts val="600"/>
              </a:spcBef>
              <a:spcAft>
                <a:spcPts val="0"/>
              </a:spcAft>
              <a:buClr>
                <a:srgbClr val="FE8637"/>
              </a:buClr>
              <a:buSzPct val="70000"/>
              <a:buFont typeface="Wingdings"/>
              <a:buChar char=""/>
            </a:pPr>
            <a:r>
              <a:rPr lang="en-GB" sz="2400" dirty="0" smtClean="0">
                <a:solidFill>
                  <a:prstClr val="black"/>
                </a:solidFill>
                <a:latin typeface="Century Schoolbook"/>
              </a:rPr>
              <a:t>A </a:t>
            </a:r>
            <a:r>
              <a:rPr lang="en-GB" sz="2400" dirty="0">
                <a:solidFill>
                  <a:prstClr val="black"/>
                </a:solidFill>
                <a:latin typeface="Century Schoolbook"/>
              </a:rPr>
              <a:t>syntax </a:t>
            </a:r>
            <a:r>
              <a:rPr lang="en-GB" sz="2400" dirty="0" smtClean="0">
                <a:solidFill>
                  <a:prstClr val="black"/>
                </a:solidFill>
                <a:latin typeface="Century Schoolbook"/>
              </a:rPr>
              <a:t>tree in </a:t>
            </a:r>
            <a:r>
              <a:rPr lang="en-GB" sz="2400" dirty="0">
                <a:solidFill>
                  <a:prstClr val="black"/>
                </a:solidFill>
                <a:latin typeface="Century Schoolbook"/>
              </a:rPr>
              <a:t>which each interior node </a:t>
            </a:r>
            <a:r>
              <a:rPr lang="en-GB" sz="2400" dirty="0" smtClean="0">
                <a:solidFill>
                  <a:prstClr val="black"/>
                </a:solidFill>
                <a:latin typeface="Century Schoolbook"/>
              </a:rPr>
              <a:t>represents an </a:t>
            </a:r>
            <a:r>
              <a:rPr lang="en-GB" sz="2400" dirty="0">
                <a:solidFill>
                  <a:prstClr val="black"/>
                </a:solidFill>
                <a:latin typeface="Century Schoolbook"/>
              </a:rPr>
              <a:t>operation and the children of </a:t>
            </a:r>
            <a:r>
              <a:rPr lang="en-GB" sz="2400" dirty="0" smtClean="0">
                <a:solidFill>
                  <a:prstClr val="black"/>
                </a:solidFill>
                <a:latin typeface="Century Schoolbook"/>
              </a:rPr>
              <a:t>the node </a:t>
            </a:r>
            <a:r>
              <a:rPr lang="en-GB" sz="2400" dirty="0">
                <a:solidFill>
                  <a:prstClr val="black"/>
                </a:solidFill>
                <a:latin typeface="Century Schoolbook"/>
              </a:rPr>
              <a:t>represent the arguments of </a:t>
            </a:r>
            <a:r>
              <a:rPr lang="en-GB" sz="2400" dirty="0" smtClean="0">
                <a:solidFill>
                  <a:prstClr val="black"/>
                </a:solidFill>
                <a:latin typeface="Century Schoolbook"/>
              </a:rPr>
              <a:t>the operation.</a:t>
            </a:r>
          </a:p>
          <a:p>
            <a:pPr marL="0" indent="0">
              <a:lnSpc>
                <a:spcPct val="120000"/>
              </a:lnSpc>
              <a:spcBef>
                <a:spcPts val="600"/>
              </a:spcBef>
              <a:spcAft>
                <a:spcPts val="0"/>
              </a:spcAft>
              <a:buClr>
                <a:srgbClr val="FE8637"/>
              </a:buClr>
              <a:buSzPct val="70000"/>
              <a:buNone/>
            </a:pPr>
            <a:r>
              <a:rPr lang="en-US" sz="2400" b="1" dirty="0" smtClean="0">
                <a:solidFill>
                  <a:prstClr val="black"/>
                </a:solidFill>
                <a:latin typeface="Century Schoolbook"/>
              </a:rPr>
              <a:t>Example</a:t>
            </a:r>
            <a:r>
              <a:rPr lang="en-US" sz="2400" dirty="0" smtClean="0">
                <a:solidFill>
                  <a:prstClr val="black"/>
                </a:solidFill>
                <a:latin typeface="Century Schoolbook"/>
              </a:rPr>
              <a:t>:</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smtClean="0"/>
              <a:t>The Phrase : x </a:t>
            </a:r>
            <a:r>
              <a:rPr lang="en-US" sz="2400" dirty="0"/>
              <a:t>= +</a:t>
            </a:r>
            <a:r>
              <a:rPr lang="en-US" sz="2400" dirty="0" smtClean="0"/>
              <a:t>y</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smtClean="0"/>
              <a:t>Four Tokens </a:t>
            </a:r>
            <a:r>
              <a:rPr lang="en-US" sz="2400" dirty="0" smtClean="0">
                <a:sym typeface="Wingdings" panose="05000000000000000000" pitchFamily="2" charset="2"/>
              </a:rPr>
              <a:t> </a:t>
            </a:r>
            <a:r>
              <a:rPr lang="en-US" sz="2400" dirty="0"/>
              <a:t>“x", “=“ ,</a:t>
            </a:r>
            <a:r>
              <a:rPr lang="en-US" sz="2400" dirty="0" smtClean="0"/>
              <a:t>“+" </a:t>
            </a:r>
            <a:r>
              <a:rPr lang="en-US" sz="2400" dirty="0"/>
              <a:t>and “</a:t>
            </a:r>
            <a:r>
              <a:rPr lang="en-US" sz="2400" dirty="0" smtClean="0"/>
              <a:t>y“</a:t>
            </a:r>
          </a:p>
          <a:p>
            <a:pPr marL="635508" lvl="1" indent="-342900">
              <a:lnSpc>
                <a:spcPct val="110000"/>
              </a:lnSpc>
              <a:spcBef>
                <a:spcPts val="600"/>
              </a:spcBef>
              <a:spcAft>
                <a:spcPts val="0"/>
              </a:spcAft>
              <a:buClr>
                <a:srgbClr val="FE8637"/>
              </a:buClr>
              <a:buSzPct val="70000"/>
              <a:buFont typeface="Wingdings" panose="05000000000000000000" pitchFamily="2" charset="2"/>
              <a:buChar char="§"/>
            </a:pPr>
            <a:r>
              <a:rPr lang="en-US" sz="2400" dirty="0" smtClean="0"/>
              <a:t>Structure x = (x+(</a:t>
            </a:r>
            <a:r>
              <a:rPr lang="en-US" sz="2400" dirty="0"/>
              <a:t>y</a:t>
            </a:r>
            <a:r>
              <a:rPr lang="en-US" sz="2400" dirty="0" smtClean="0"/>
              <a:t>)) </a:t>
            </a:r>
            <a:r>
              <a:rPr lang="en-US" sz="2400" dirty="0"/>
              <a:t>i.e., an assignment expression</a:t>
            </a:r>
            <a:r>
              <a:rPr lang="en-US" sz="2400" dirty="0" smtClean="0"/>
              <a:t> </a:t>
            </a:r>
          </a:p>
          <a:p>
            <a:pPr marL="365760" lvl="1" indent="0">
              <a:lnSpc>
                <a:spcPct val="11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9522274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Syntax Analysis: </a:t>
            </a:r>
            <a:r>
              <a:rPr lang="en-US" sz="4000" cap="small" spc="0" dirty="0">
                <a:solidFill>
                  <a:srgbClr val="575F6D"/>
                </a:solidFill>
                <a:latin typeface="Century Schoolbook"/>
              </a:rPr>
              <a:t>Grammars</a:t>
            </a:r>
            <a:endParaRPr lang="en-US" sz="4000" dirty="0"/>
          </a:p>
        </p:txBody>
      </p:sp>
      <p:sp>
        <p:nvSpPr>
          <p:cNvPr id="3" name="Content Placeholder 2"/>
          <p:cNvSpPr>
            <a:spLocks noGrp="1"/>
          </p:cNvSpPr>
          <p:nvPr>
            <p:ph idx="1"/>
          </p:nvPr>
        </p:nvSpPr>
        <p:spPr>
          <a:xfrm>
            <a:off x="1097280" y="1845734"/>
            <a:ext cx="9846023"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Expression grammar</a:t>
            </a:r>
          </a:p>
          <a:p>
            <a:pPr marL="0" lvl="0" indent="0">
              <a:lnSpc>
                <a:spcPct val="120000"/>
              </a:lnSpc>
              <a:spcBef>
                <a:spcPts val="600"/>
              </a:spcBef>
              <a:spcAft>
                <a:spcPts val="0"/>
              </a:spcAft>
              <a:buClr>
                <a:srgbClr val="FE8637"/>
              </a:buClr>
              <a:buSzPct val="70000"/>
              <a:buNone/>
            </a:pPr>
            <a:r>
              <a:rPr lang="en-US" sz="2400" dirty="0" smtClean="0">
                <a:solidFill>
                  <a:prstClr val="black"/>
                </a:solidFill>
                <a:latin typeface="Century Schoolbook"/>
              </a:rPr>
              <a:t>	</a:t>
            </a:r>
            <a:r>
              <a:rPr lang="en-US" sz="2400" dirty="0" err="1" smtClean="0">
                <a:solidFill>
                  <a:prstClr val="black"/>
                </a:solidFill>
                <a:latin typeface="Century Schoolbook"/>
              </a:rPr>
              <a:t>Exp</a:t>
            </a:r>
            <a:r>
              <a:rPr lang="en-US" sz="2400" dirty="0" smtClean="0">
                <a:solidFill>
                  <a:prstClr val="black"/>
                </a:solidFill>
                <a:latin typeface="Century Schoolbook"/>
              </a:rPr>
              <a:t>           </a:t>
            </a:r>
            <a:r>
              <a:rPr lang="en-US" sz="2400" dirty="0" err="1" smtClean="0">
                <a:solidFill>
                  <a:prstClr val="black"/>
                </a:solidFill>
                <a:latin typeface="Century Schoolbook"/>
              </a:rPr>
              <a:t>Exp</a:t>
            </a:r>
            <a:r>
              <a:rPr lang="en-US" sz="2400" dirty="0" smtClean="0">
                <a:solidFill>
                  <a:prstClr val="black"/>
                </a:solidFill>
                <a:latin typeface="Century Schoolbook"/>
              </a:rPr>
              <a:t> </a:t>
            </a:r>
            <a:r>
              <a:rPr lang="en-US" sz="2400" dirty="0">
                <a:solidFill>
                  <a:prstClr val="black"/>
                </a:solidFill>
                <a:latin typeface="Century Schoolbook"/>
              </a:rPr>
              <a:t>‘+’ </a:t>
            </a:r>
            <a:r>
              <a:rPr lang="en-US" sz="2400" dirty="0" err="1">
                <a:solidFill>
                  <a:prstClr val="black"/>
                </a:solidFill>
                <a:latin typeface="Century Schoolbook"/>
              </a:rPr>
              <a:t>Exp</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400" dirty="0" smtClean="0">
                <a:solidFill>
                  <a:prstClr val="black"/>
                </a:solidFill>
                <a:latin typeface="Century Schoolbook"/>
              </a:rPr>
              <a:t>      		|     </a:t>
            </a:r>
            <a:r>
              <a:rPr lang="en-US" sz="2400" dirty="0" err="1" smtClean="0">
                <a:solidFill>
                  <a:prstClr val="black"/>
                </a:solidFill>
                <a:latin typeface="Century Schoolbook"/>
              </a:rPr>
              <a:t>Exp</a:t>
            </a:r>
            <a:r>
              <a:rPr lang="en-US" sz="2400" dirty="0" smtClean="0">
                <a:solidFill>
                  <a:prstClr val="black"/>
                </a:solidFill>
                <a:latin typeface="Century Schoolbook"/>
              </a:rPr>
              <a:t> </a:t>
            </a:r>
            <a:r>
              <a:rPr lang="en-US" sz="2400" dirty="0">
                <a:solidFill>
                  <a:prstClr val="black"/>
                </a:solidFill>
                <a:latin typeface="Century Schoolbook"/>
              </a:rPr>
              <a:t>‘*’ </a:t>
            </a:r>
            <a:r>
              <a:rPr lang="en-US" sz="2400" dirty="0" err="1">
                <a:solidFill>
                  <a:prstClr val="black"/>
                </a:solidFill>
                <a:latin typeface="Century Schoolbook"/>
              </a:rPr>
              <a:t>Exp</a:t>
            </a:r>
            <a:endParaRPr lang="en-US" sz="2400" dirty="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a:t>
            </a:r>
            <a:r>
              <a:rPr lang="en-US" sz="2400" dirty="0" smtClean="0">
                <a:solidFill>
                  <a:prstClr val="black"/>
                </a:solidFill>
                <a:latin typeface="Century Schoolbook"/>
              </a:rPr>
              <a:t>	|     </a:t>
            </a:r>
            <a:r>
              <a:rPr lang="en-US" sz="2400" dirty="0">
                <a:solidFill>
                  <a:prstClr val="black"/>
                </a:solidFill>
                <a:latin typeface="Century Schoolbook"/>
              </a:rPr>
              <a:t>ID</a:t>
            </a:r>
          </a:p>
          <a:p>
            <a:pPr marL="0" lvl="0" indent="0">
              <a:lnSpc>
                <a:spcPct val="120000"/>
              </a:lnSpc>
              <a:spcBef>
                <a:spcPts val="600"/>
              </a:spcBef>
              <a:spcAft>
                <a:spcPts val="0"/>
              </a:spcAft>
              <a:buClr>
                <a:srgbClr val="FE8637"/>
              </a:buClr>
              <a:buSzPct val="70000"/>
              <a:buNone/>
            </a:pPr>
            <a:r>
              <a:rPr lang="en-US" sz="2400" dirty="0">
                <a:solidFill>
                  <a:prstClr val="black"/>
                </a:solidFill>
                <a:latin typeface="Century Schoolbook"/>
              </a:rPr>
              <a:t>              </a:t>
            </a:r>
            <a:r>
              <a:rPr lang="en-US" sz="2400" dirty="0" smtClean="0">
                <a:solidFill>
                  <a:prstClr val="black"/>
                </a:solidFill>
                <a:latin typeface="Century Schoolbook"/>
              </a:rPr>
              <a:t>	|     </a:t>
            </a:r>
            <a:r>
              <a:rPr lang="en-US" sz="2400" dirty="0">
                <a:solidFill>
                  <a:prstClr val="black"/>
                </a:solidFill>
                <a:latin typeface="Century Schoolbook"/>
              </a:rPr>
              <a:t>NUMBER</a:t>
            </a:r>
          </a:p>
          <a:p>
            <a:pPr marL="365760" lvl="1" indent="0">
              <a:lnSpc>
                <a:spcPct val="110000"/>
              </a:lnSpc>
              <a:spcBef>
                <a:spcPct val="20000"/>
              </a:spcBef>
              <a:spcAft>
                <a:spcPts val="0"/>
              </a:spcAft>
              <a:buClr>
                <a:srgbClr val="FE8637"/>
              </a:buClr>
              <a:buSzPct val="80000"/>
              <a:buNone/>
            </a:pP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
        <p:nvSpPr>
          <p:cNvPr id="4" name="Line 4"/>
          <p:cNvSpPr>
            <a:spLocks noChangeShapeType="1"/>
          </p:cNvSpPr>
          <p:nvPr/>
        </p:nvSpPr>
        <p:spPr bwMode="auto">
          <a:xfrm>
            <a:off x="2877671" y="2631140"/>
            <a:ext cx="385482" cy="448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en-US"/>
          </a:p>
        </p:txBody>
      </p:sp>
    </p:spTree>
    <p:extLst>
      <p:ext uri="{BB962C8B-B14F-4D97-AF65-F5344CB8AC3E}">
        <p14:creationId xmlns:p14="http://schemas.microsoft.com/office/powerpoint/2010/main" val="61602824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Syntax Analysis</a:t>
            </a:r>
            <a:r>
              <a:rPr lang="en-US" sz="4000" cap="small" spc="0" dirty="0">
                <a:solidFill>
                  <a:srgbClr val="575F6D"/>
                </a:solidFill>
                <a:latin typeface="Century Schoolbook"/>
              </a:rPr>
              <a:t>: Syntax Tree</a:t>
            </a:r>
            <a:endParaRPr lang="en-US" sz="4000" dirty="0"/>
          </a:p>
        </p:txBody>
      </p:sp>
      <p:sp>
        <p:nvSpPr>
          <p:cNvPr id="3" name="Content Placeholder 2"/>
          <p:cNvSpPr>
            <a:spLocks noGrp="1"/>
          </p:cNvSpPr>
          <p:nvPr>
            <p:ph idx="1"/>
          </p:nvPr>
        </p:nvSpPr>
        <p:spPr>
          <a:xfrm>
            <a:off x="1097280" y="1845734"/>
            <a:ext cx="9846023"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b="1" dirty="0">
                <a:solidFill>
                  <a:prstClr val="black"/>
                </a:solidFill>
                <a:latin typeface="Century Schoolbook"/>
              </a:rPr>
              <a:t>Input</a:t>
            </a:r>
            <a:r>
              <a:rPr lang="en-US" sz="2400" dirty="0">
                <a:solidFill>
                  <a:prstClr val="black"/>
                </a:solidFill>
                <a:latin typeface="Century Schoolbook"/>
              </a:rPr>
              <a:t>: result = a + b * 10</a:t>
            </a:r>
          </a:p>
          <a:p>
            <a:pPr marL="0" lvl="0" indent="0">
              <a:lnSpc>
                <a:spcPct val="120000"/>
              </a:lnSpc>
              <a:spcBef>
                <a:spcPts val="600"/>
              </a:spcBef>
              <a:spcAft>
                <a:spcPts val="0"/>
              </a:spcAft>
              <a:buClr>
                <a:srgbClr val="FE8637"/>
              </a:buClr>
              <a:buSzPct val="70000"/>
              <a:buNone/>
            </a:pPr>
            <a:r>
              <a:rPr lang="en-US" sz="2400" dirty="0" smtClean="0">
                <a:solidFill>
                  <a:prstClr val="black"/>
                </a:solidFill>
                <a:latin typeface="Century Schoolbook"/>
              </a:rPr>
              <a:t>	</a:t>
            </a:r>
            <a:endParaRPr lang="en-US" sz="2800" i="1" dirty="0">
              <a:solidFill>
                <a:prstClr val="black"/>
              </a:solidFill>
              <a:latin typeface="Century Schoolbook"/>
              <a:ea typeface="ＭＳ Ｐゴシック" panose="020B0600070205080204" pitchFamily="34" charset="-128"/>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pic>
        <p:nvPicPr>
          <p:cNvPr id="25" name="Picture 24"/>
          <p:cNvPicPr>
            <a:picLocks noChangeAspect="1"/>
          </p:cNvPicPr>
          <p:nvPr/>
        </p:nvPicPr>
        <p:blipFill>
          <a:blip r:embed="rId3"/>
          <a:stretch>
            <a:fillRect/>
          </a:stretch>
        </p:blipFill>
        <p:spPr>
          <a:xfrm>
            <a:off x="2707341" y="2637745"/>
            <a:ext cx="4351436" cy="3093660"/>
          </a:xfrm>
          <a:prstGeom prst="rect">
            <a:avLst/>
          </a:prstGeom>
        </p:spPr>
      </p:pic>
    </p:spTree>
    <p:extLst>
      <p:ext uri="{BB962C8B-B14F-4D97-AF65-F5344CB8AC3E}">
        <p14:creationId xmlns:p14="http://schemas.microsoft.com/office/powerpoint/2010/main" val="361681158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Semantic Analysis</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Check the source program for semantic </a:t>
            </a:r>
            <a:r>
              <a:rPr lang="en-US" sz="2400" dirty="0" smtClean="0">
                <a:solidFill>
                  <a:prstClr val="black"/>
                </a:solidFill>
                <a:latin typeface="Century Schoolbook"/>
              </a:rPr>
              <a:t>errors</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It uses the hierarchical structure determined by the syntax-analysis phase to identify the operators and operands of expressions and </a:t>
            </a:r>
            <a:r>
              <a:rPr lang="en-US" sz="2400" dirty="0" smtClean="0">
                <a:solidFill>
                  <a:prstClr val="black"/>
                </a:solidFill>
                <a:latin typeface="Century Schoolbook"/>
              </a:rPr>
              <a:t>statements</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Performs type checking</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Operator operand </a:t>
            </a:r>
            <a:r>
              <a:rPr lang="en-US" sz="2200" dirty="0" smtClean="0">
                <a:solidFill>
                  <a:prstClr val="black"/>
                </a:solidFill>
                <a:latin typeface="Century Schoolbook"/>
              </a:rPr>
              <a:t>compatibility</a:t>
            </a:r>
            <a:endParaRPr lang="en-US" sz="2400" dirty="0">
              <a:solidFill>
                <a:prstClr val="black"/>
              </a:solidFill>
              <a:latin typeface="Century Schoolbook"/>
            </a:endParaRPr>
          </a:p>
          <a:p>
            <a:pPr marL="292608" lvl="1" indent="0">
              <a:lnSpc>
                <a:spcPct val="120000"/>
              </a:lnSpc>
              <a:spcBef>
                <a:spcPts val="600"/>
              </a:spcBef>
              <a:spcAft>
                <a:spcPts val="0"/>
              </a:spcAft>
              <a:buClr>
                <a:srgbClr val="FE8637"/>
              </a:buClr>
              <a:buSzPct val="70000"/>
              <a:buNone/>
            </a:pPr>
            <a:r>
              <a:rPr lang="en-US" sz="2400" b="1" dirty="0" smtClean="0">
                <a:solidFill>
                  <a:schemeClr val="tx1"/>
                </a:solidFill>
                <a:latin typeface="Century Schoolbook"/>
                <a:ea typeface="ＭＳ Ｐゴシック" panose="020B0600070205080204" pitchFamily="34" charset="-128"/>
              </a:rPr>
              <a:t>Example:</a:t>
            </a:r>
          </a:p>
          <a:p>
            <a:pPr marL="365760" lvl="1" indent="0">
              <a:lnSpc>
                <a:spcPct val="80000"/>
              </a:lnSpc>
              <a:spcBef>
                <a:spcPct val="20000"/>
              </a:spcBef>
              <a:spcAft>
                <a:spcPts val="0"/>
              </a:spcAft>
              <a:buClr>
                <a:srgbClr val="FE8637"/>
              </a:buClr>
              <a:buSzPct val="80000"/>
              <a:buNone/>
            </a:pPr>
            <a:r>
              <a:rPr lang="en-GB" sz="2200" dirty="0" smtClean="0">
                <a:solidFill>
                  <a:schemeClr val="tx1"/>
                </a:solidFill>
                <a:latin typeface="Century Schoolbook"/>
                <a:ea typeface="ＭＳ Ｐゴシック" panose="020B0600070205080204" pitchFamily="34" charset="-128"/>
              </a:rPr>
              <a:t>The </a:t>
            </a:r>
            <a:r>
              <a:rPr lang="en-GB" sz="2200" dirty="0">
                <a:solidFill>
                  <a:schemeClr val="tx1"/>
                </a:solidFill>
                <a:latin typeface="Century Schoolbook"/>
                <a:ea typeface="ＭＳ Ｐゴシック" panose="020B0600070205080204" pitchFamily="34" charset="-128"/>
              </a:rPr>
              <a:t>compiler must report an error if </a:t>
            </a:r>
            <a:r>
              <a:rPr lang="en-GB" sz="2200" dirty="0" smtClean="0">
                <a:solidFill>
                  <a:schemeClr val="tx1"/>
                </a:solidFill>
                <a:latin typeface="Century Schoolbook"/>
                <a:ea typeface="ＭＳ Ｐゴシック" panose="020B0600070205080204" pitchFamily="34" charset="-128"/>
              </a:rPr>
              <a:t>a floating-point </a:t>
            </a:r>
            <a:r>
              <a:rPr lang="en-GB" sz="2200" dirty="0">
                <a:solidFill>
                  <a:schemeClr val="tx1"/>
                </a:solidFill>
                <a:latin typeface="Century Schoolbook"/>
                <a:ea typeface="ＭＳ Ｐゴシック" panose="020B0600070205080204" pitchFamily="34" charset="-128"/>
              </a:rPr>
              <a:t>number is used to </a:t>
            </a:r>
            <a:r>
              <a:rPr lang="en-GB" sz="2200" dirty="0" smtClean="0">
                <a:solidFill>
                  <a:schemeClr val="tx1"/>
                </a:solidFill>
                <a:latin typeface="Century Schoolbook"/>
                <a:ea typeface="ＭＳ Ｐゴシック" panose="020B0600070205080204" pitchFamily="34" charset="-128"/>
              </a:rPr>
              <a:t>index an </a:t>
            </a:r>
            <a:r>
              <a:rPr lang="en-GB" sz="2200" dirty="0">
                <a:solidFill>
                  <a:schemeClr val="tx1"/>
                </a:solidFill>
                <a:latin typeface="Century Schoolbook"/>
                <a:ea typeface="ＭＳ Ｐゴシック" panose="020B0600070205080204" pitchFamily="34" charset="-128"/>
              </a:rPr>
              <a:t>array.</a:t>
            </a:r>
            <a:endParaRPr lang="en-US" sz="2200" dirty="0">
              <a:solidFill>
                <a:schemeClr val="tx1"/>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63372690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Semantic Analysis</a:t>
            </a:r>
            <a:endParaRPr lang="en-US" sz="4000" dirty="0"/>
          </a:p>
        </p:txBody>
      </p:sp>
      <p:sp>
        <p:nvSpPr>
          <p:cNvPr id="3" name="Content Placeholder 2"/>
          <p:cNvSpPr>
            <a:spLocks noGrp="1"/>
          </p:cNvSpPr>
          <p:nvPr>
            <p:ph idx="1"/>
          </p:nvPr>
        </p:nvSpPr>
        <p:spPr>
          <a:xfrm>
            <a:off x="1097280" y="1845734"/>
            <a:ext cx="1109472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The language specification may </a:t>
            </a:r>
            <a:r>
              <a:rPr lang="en-GB" sz="2400" dirty="0" smtClean="0">
                <a:solidFill>
                  <a:prstClr val="black"/>
                </a:solidFill>
                <a:latin typeface="Century Schoolbook"/>
              </a:rPr>
              <a:t>permit some </a:t>
            </a:r>
            <a:r>
              <a:rPr lang="en-GB" sz="2400" dirty="0">
                <a:solidFill>
                  <a:prstClr val="black"/>
                </a:solidFill>
                <a:latin typeface="Century Schoolbook"/>
              </a:rPr>
              <a:t>type conversions </a:t>
            </a:r>
            <a:endParaRPr lang="en-GB" sz="2400"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a:t>
            </a:r>
            <a:r>
              <a:rPr lang="en-GB" sz="2400" dirty="0" smtClean="0">
                <a:solidFill>
                  <a:prstClr val="black"/>
                </a:solidFill>
                <a:latin typeface="Century Schoolbook"/>
              </a:rPr>
              <a:t>  called </a:t>
            </a:r>
            <a:r>
              <a:rPr lang="en-GB" sz="2400" b="1" dirty="0" smtClean="0">
                <a:solidFill>
                  <a:prstClr val="black"/>
                </a:solidFill>
                <a:latin typeface="Century Schoolbook"/>
              </a:rPr>
              <a:t>coercions</a:t>
            </a:r>
            <a:r>
              <a:rPr lang="en-GB" sz="2400" dirty="0" smtClean="0">
                <a:solidFill>
                  <a:prstClr val="black"/>
                </a:solidFill>
                <a:latin typeface="Century Schoolbook"/>
              </a:rPr>
              <a:t>.</a:t>
            </a:r>
          </a:p>
          <a:p>
            <a:pPr marL="274320" indent="-274320">
              <a:lnSpc>
                <a:spcPct val="120000"/>
              </a:lnSpc>
              <a:spcBef>
                <a:spcPts val="600"/>
              </a:spcBef>
              <a:spcAft>
                <a:spcPts val="0"/>
              </a:spcAft>
              <a:buClr>
                <a:srgbClr val="FE8637"/>
              </a:buClr>
              <a:buSzPct val="70000"/>
              <a:buFont typeface="Wingdings"/>
              <a:buChar char=""/>
            </a:pPr>
            <a:r>
              <a:rPr lang="en-US" sz="2400" b="1" dirty="0">
                <a:solidFill>
                  <a:schemeClr val="tx1"/>
                </a:solidFill>
                <a:latin typeface="Century Schoolbook"/>
                <a:ea typeface="ＭＳ Ｐゴシック" panose="020B0600070205080204" pitchFamily="34" charset="-128"/>
              </a:rPr>
              <a:t>Example</a:t>
            </a:r>
            <a:r>
              <a:rPr lang="en-US" sz="2400" b="1" dirty="0" smtClean="0">
                <a:solidFill>
                  <a:schemeClr val="tx1"/>
                </a:solidFill>
                <a:latin typeface="Century Schoolbook"/>
                <a:ea typeface="ＭＳ Ｐゴシック" panose="020B0600070205080204" pitchFamily="34" charset="-128"/>
              </a:rPr>
              <a:t>:</a:t>
            </a:r>
            <a:endParaRPr lang="en-GB" sz="2400"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dirty="0" smtClean="0">
                <a:solidFill>
                  <a:prstClr val="black"/>
                </a:solidFill>
                <a:latin typeface="Century Schoolbook"/>
              </a:rPr>
              <a:t>   The </a:t>
            </a:r>
            <a:r>
              <a:rPr lang="en-GB" sz="2400" dirty="0">
                <a:solidFill>
                  <a:prstClr val="black"/>
                </a:solidFill>
                <a:latin typeface="Century Schoolbook"/>
              </a:rPr>
              <a:t>compiler may </a:t>
            </a:r>
            <a:r>
              <a:rPr lang="en-GB" sz="2400" b="1" dirty="0">
                <a:solidFill>
                  <a:prstClr val="black"/>
                </a:solidFill>
                <a:latin typeface="Century Schoolbook"/>
              </a:rPr>
              <a:t>convert or coerce </a:t>
            </a:r>
            <a:endParaRPr lang="en-GB" sz="2400" b="1"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b="1" dirty="0">
                <a:solidFill>
                  <a:prstClr val="black"/>
                </a:solidFill>
                <a:latin typeface="Century Schoolbook"/>
              </a:rPr>
              <a:t> </a:t>
            </a:r>
            <a:r>
              <a:rPr lang="en-GB" sz="2400" b="1" dirty="0" smtClean="0">
                <a:solidFill>
                  <a:prstClr val="black"/>
                </a:solidFill>
                <a:latin typeface="Century Schoolbook"/>
              </a:rPr>
              <a:t>  </a:t>
            </a:r>
            <a:r>
              <a:rPr lang="en-GB" sz="2400" dirty="0" smtClean="0">
                <a:solidFill>
                  <a:prstClr val="black"/>
                </a:solidFill>
                <a:latin typeface="Century Schoolbook"/>
              </a:rPr>
              <a:t>the integer </a:t>
            </a:r>
            <a:r>
              <a:rPr lang="en-GB" sz="2400" dirty="0">
                <a:solidFill>
                  <a:prstClr val="black"/>
                </a:solidFill>
                <a:latin typeface="Century Schoolbook"/>
              </a:rPr>
              <a:t>into a </a:t>
            </a:r>
            <a:r>
              <a:rPr lang="en-GB" sz="2400" dirty="0" smtClean="0">
                <a:solidFill>
                  <a:prstClr val="black"/>
                </a:solidFill>
                <a:latin typeface="Century Schoolbook"/>
              </a:rPr>
              <a:t>floating-point  number.</a:t>
            </a:r>
          </a:p>
          <a:p>
            <a:pPr marL="0" lvl="0" indent="0">
              <a:lnSpc>
                <a:spcPct val="120000"/>
              </a:lnSpc>
              <a:spcBef>
                <a:spcPts val="600"/>
              </a:spcBef>
              <a:spcAft>
                <a:spcPts val="0"/>
              </a:spcAft>
              <a:buClr>
                <a:srgbClr val="FE8637"/>
              </a:buClr>
              <a:buSzPct val="70000"/>
              <a:buNone/>
            </a:pPr>
            <a:endParaRPr lang="en-US" sz="2400" dirty="0">
              <a:solidFill>
                <a:prstClr val="black"/>
              </a:solidFill>
              <a:latin typeface="Century Schoolbook"/>
            </a:endParaRPr>
          </a:p>
        </p:txBody>
      </p:sp>
      <p:pic>
        <p:nvPicPr>
          <p:cNvPr id="5" name="Picture 4"/>
          <p:cNvPicPr>
            <a:picLocks noChangeAspect="1"/>
          </p:cNvPicPr>
          <p:nvPr/>
        </p:nvPicPr>
        <p:blipFill>
          <a:blip r:embed="rId3"/>
          <a:stretch>
            <a:fillRect/>
          </a:stretch>
        </p:blipFill>
        <p:spPr>
          <a:xfrm>
            <a:off x="7630989" y="2645458"/>
            <a:ext cx="4002945" cy="3519368"/>
          </a:xfrm>
          <a:prstGeom prst="rect">
            <a:avLst/>
          </a:prstGeom>
        </p:spPr>
      </p:pic>
    </p:spTree>
    <p:extLst>
      <p:ext uri="{BB962C8B-B14F-4D97-AF65-F5344CB8AC3E}">
        <p14:creationId xmlns:p14="http://schemas.microsoft.com/office/powerpoint/2010/main" val="4920263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Intermediate 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fontScale="92500" lnSpcReduction="1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Translate each hierarchical structure decorated as tree into intermediate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 program translated for an abstract machine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Properties of intermediate codes</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Should be easy to produce</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200" dirty="0">
                <a:solidFill>
                  <a:prstClr val="black"/>
                </a:solidFill>
                <a:latin typeface="Century Schoolbook"/>
              </a:rPr>
              <a:t>Should be easy to translate into the target program</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Intermediate code hides many machine-level details, but has instruction-level mapping to many assembly languages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Main motivation: </a:t>
            </a:r>
            <a:r>
              <a:rPr lang="en-US" sz="2400" b="1" dirty="0">
                <a:solidFill>
                  <a:prstClr val="black"/>
                </a:solidFill>
                <a:latin typeface="Century Schoolbook"/>
              </a:rPr>
              <a:t>portability</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One commonly used form is </a:t>
            </a:r>
            <a:r>
              <a:rPr lang="en-US" sz="2400" b="1" dirty="0">
                <a:solidFill>
                  <a:prstClr val="black"/>
                </a:solidFill>
                <a:latin typeface="Century Schoolbook"/>
              </a:rPr>
              <a:t>“Three-address Code”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60814118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Intermediate 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We consider an intermediate </a:t>
            </a:r>
            <a:r>
              <a:rPr lang="en-GB" sz="2400" dirty="0" smtClean="0">
                <a:solidFill>
                  <a:prstClr val="black"/>
                </a:solidFill>
                <a:latin typeface="Century Schoolbook"/>
              </a:rPr>
              <a:t>form called </a:t>
            </a:r>
            <a:r>
              <a:rPr lang="en-GB" sz="2400" dirty="0">
                <a:solidFill>
                  <a:prstClr val="black"/>
                </a:solidFill>
                <a:latin typeface="Century Schoolbook"/>
              </a:rPr>
              <a:t>“three-address code</a:t>
            </a:r>
            <a:r>
              <a:rPr lang="en-GB" sz="2400" dirty="0" smtClean="0">
                <a:solidFill>
                  <a:prstClr val="black"/>
                </a:solidFill>
                <a:latin typeface="Century Schoolbook"/>
              </a:rPr>
              <a:t>”.</a:t>
            </a:r>
          </a:p>
          <a:p>
            <a:pPr marL="274320" lvl="0" indent="-274320">
              <a:lnSpc>
                <a:spcPct val="120000"/>
              </a:lnSpc>
              <a:spcBef>
                <a:spcPts val="600"/>
              </a:spcBef>
              <a:spcAft>
                <a:spcPts val="0"/>
              </a:spcAft>
              <a:buClr>
                <a:srgbClr val="FE8637"/>
              </a:buClr>
              <a:buSzPct val="70000"/>
              <a:buFont typeface="Wingdings"/>
              <a:buChar char=""/>
            </a:pPr>
            <a:r>
              <a:rPr lang="en-GB" sz="2400" dirty="0">
                <a:solidFill>
                  <a:prstClr val="black"/>
                </a:solidFill>
                <a:latin typeface="Century Schoolbook"/>
              </a:rPr>
              <a:t>Like the assembly language for </a:t>
            </a:r>
            <a:r>
              <a:rPr lang="en-GB" sz="2400" dirty="0" smtClean="0">
                <a:solidFill>
                  <a:prstClr val="black"/>
                </a:solidFill>
                <a:latin typeface="Century Schoolbook"/>
              </a:rPr>
              <a:t>a machine </a:t>
            </a:r>
            <a:r>
              <a:rPr lang="en-GB" sz="2400" dirty="0">
                <a:solidFill>
                  <a:prstClr val="black"/>
                </a:solidFill>
                <a:latin typeface="Century Schoolbook"/>
              </a:rPr>
              <a:t>in which every memory</a:t>
            </a:r>
          </a:p>
          <a:p>
            <a:pPr marL="0" lvl="0" indent="0">
              <a:lnSpc>
                <a:spcPct val="120000"/>
              </a:lnSpc>
              <a:spcBef>
                <a:spcPts val="600"/>
              </a:spcBef>
              <a:spcAft>
                <a:spcPts val="0"/>
              </a:spcAft>
              <a:buClr>
                <a:srgbClr val="FE8637"/>
              </a:buClr>
              <a:buSzPct val="70000"/>
              <a:buNone/>
            </a:pPr>
            <a:r>
              <a:rPr lang="en-GB" sz="2400" dirty="0" smtClean="0">
                <a:solidFill>
                  <a:prstClr val="black"/>
                </a:solidFill>
                <a:latin typeface="Century Schoolbook"/>
              </a:rPr>
              <a:t>    location </a:t>
            </a:r>
            <a:r>
              <a:rPr lang="en-GB" sz="2400" dirty="0">
                <a:solidFill>
                  <a:prstClr val="black"/>
                </a:solidFill>
                <a:latin typeface="Century Schoolbook"/>
              </a:rPr>
              <a:t>can act like a register.</a:t>
            </a:r>
            <a:endParaRPr lang="en-US" sz="2400" dirty="0" smtClean="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Three-address code </a:t>
            </a:r>
            <a:r>
              <a:rPr lang="en-GB" sz="2400" dirty="0">
                <a:solidFill>
                  <a:prstClr val="black"/>
                </a:solidFill>
                <a:latin typeface="Century Schoolbook"/>
              </a:rPr>
              <a:t>consists of </a:t>
            </a:r>
            <a:r>
              <a:rPr lang="en-GB" sz="2400" dirty="0" smtClean="0">
                <a:solidFill>
                  <a:prstClr val="black"/>
                </a:solidFill>
                <a:latin typeface="Century Schoolbook"/>
              </a:rPr>
              <a:t>a </a:t>
            </a:r>
          </a:p>
          <a:p>
            <a:pPr marL="0" lvl="0" indent="0">
              <a:lnSpc>
                <a:spcPct val="120000"/>
              </a:lnSpc>
              <a:spcBef>
                <a:spcPts val="600"/>
              </a:spcBef>
              <a:spcAft>
                <a:spcPts val="0"/>
              </a:spcAft>
              <a:buClr>
                <a:srgbClr val="FE8637"/>
              </a:buClr>
              <a:buSzPct val="70000"/>
              <a:buNone/>
            </a:pPr>
            <a:r>
              <a:rPr lang="en-GB" sz="2400" dirty="0" smtClean="0">
                <a:solidFill>
                  <a:prstClr val="black"/>
                </a:solidFill>
                <a:latin typeface="Century Schoolbook"/>
              </a:rPr>
              <a:t>    sequence of </a:t>
            </a:r>
            <a:r>
              <a:rPr lang="en-GB" sz="2400" dirty="0">
                <a:solidFill>
                  <a:prstClr val="black"/>
                </a:solidFill>
                <a:latin typeface="Century Schoolbook"/>
              </a:rPr>
              <a:t>instructions, </a:t>
            </a:r>
            <a:endParaRPr lang="en-GB" sz="2400"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400" dirty="0">
                <a:solidFill>
                  <a:prstClr val="black"/>
                </a:solidFill>
                <a:latin typeface="Century Schoolbook"/>
              </a:rPr>
              <a:t> </a:t>
            </a:r>
            <a:r>
              <a:rPr lang="en-GB" sz="2400" dirty="0" smtClean="0">
                <a:solidFill>
                  <a:prstClr val="black"/>
                </a:solidFill>
                <a:latin typeface="Century Schoolbook"/>
              </a:rPr>
              <a:t>   each </a:t>
            </a:r>
            <a:r>
              <a:rPr lang="en-GB" sz="2400" dirty="0">
                <a:solidFill>
                  <a:prstClr val="black"/>
                </a:solidFill>
                <a:latin typeface="Century Schoolbook"/>
              </a:rPr>
              <a:t>of </a:t>
            </a:r>
            <a:r>
              <a:rPr lang="en-GB" sz="2400" dirty="0" smtClean="0">
                <a:solidFill>
                  <a:prstClr val="black"/>
                </a:solidFill>
                <a:latin typeface="Century Schoolbook"/>
              </a:rPr>
              <a:t>which has at </a:t>
            </a:r>
            <a:r>
              <a:rPr lang="en-GB" sz="2400" dirty="0">
                <a:solidFill>
                  <a:prstClr val="black"/>
                </a:solidFill>
                <a:latin typeface="Century Schoolbook"/>
              </a:rPr>
              <a:t>most three operands</a:t>
            </a:r>
            <a:r>
              <a:rPr lang="en-GB" sz="2400" dirty="0" smtClean="0">
                <a:solidFill>
                  <a:prstClr val="black"/>
                </a:solidFill>
                <a:latin typeface="Century Schoolbook"/>
              </a:rPr>
              <a:t>.</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7504160" y="2859584"/>
            <a:ext cx="3749994" cy="3413616"/>
          </a:xfrm>
          <a:prstGeom prst="rect">
            <a:avLst/>
          </a:prstGeom>
        </p:spPr>
      </p:pic>
    </p:spTree>
    <p:extLst>
      <p:ext uri="{BB962C8B-B14F-4D97-AF65-F5344CB8AC3E}">
        <p14:creationId xmlns:p14="http://schemas.microsoft.com/office/powerpoint/2010/main" val="231508459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Optimization</a:t>
            </a:r>
            <a:endParaRPr lang="en-US" sz="4000" dirty="0"/>
          </a:p>
        </p:txBody>
      </p:sp>
      <p:sp>
        <p:nvSpPr>
          <p:cNvPr id="3" name="Content Placeholder 2"/>
          <p:cNvSpPr>
            <a:spLocks noGrp="1"/>
          </p:cNvSpPr>
          <p:nvPr>
            <p:ph idx="1"/>
          </p:nvPr>
        </p:nvSpPr>
        <p:spPr>
          <a:xfrm>
            <a:off x="1097280" y="1845734"/>
            <a:ext cx="10058400" cy="4319092"/>
          </a:xfrm>
        </p:spPr>
        <p:txBody>
          <a:bodyPr>
            <a:normAutofit lnSpcReduction="1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Apply a series of transformations </a:t>
            </a:r>
            <a:r>
              <a:rPr lang="en-US" sz="2400" b="1" dirty="0">
                <a:solidFill>
                  <a:prstClr val="black"/>
                </a:solidFill>
                <a:latin typeface="Century Schoolbook"/>
              </a:rPr>
              <a:t>to improve the time and space efficiency of the generated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Peephole optimizations: generate new instructions by combining/expanding on a small number of consecutive instructions.</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Global optimizations: reorder, remove or add instructions to change the structure of generated code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Consumes a significant fraction of the compilation time</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Optimization capability varies widely</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Simple optimization techniques can be vary valuable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19921577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Optimization</a:t>
            </a:r>
            <a:endParaRPr lang="en-US" sz="4000" dirty="0"/>
          </a:p>
        </p:txBody>
      </p:sp>
      <p:pic>
        <p:nvPicPr>
          <p:cNvPr id="4" name="Picture 3"/>
          <p:cNvPicPr>
            <a:picLocks noChangeAspect="1"/>
          </p:cNvPicPr>
          <p:nvPr/>
        </p:nvPicPr>
        <p:blipFill>
          <a:blip r:embed="rId3"/>
          <a:stretch>
            <a:fillRect/>
          </a:stretch>
        </p:blipFill>
        <p:spPr>
          <a:xfrm>
            <a:off x="3376246" y="2116966"/>
            <a:ext cx="3713003" cy="3280944"/>
          </a:xfrm>
          <a:prstGeom prst="rect">
            <a:avLst/>
          </a:prstGeom>
        </p:spPr>
      </p:pic>
    </p:spTree>
    <p:extLst>
      <p:ext uri="{BB962C8B-B14F-4D97-AF65-F5344CB8AC3E}">
        <p14:creationId xmlns:p14="http://schemas.microsoft.com/office/powerpoint/2010/main" val="9760141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Map instructions in the intermediate code to specific machine instructions</a:t>
            </a:r>
            <a:r>
              <a:rPr lang="en-US" sz="2400" dirty="0" smtClean="0">
                <a:solidFill>
                  <a:prstClr val="black"/>
                </a:solidFill>
                <a:latin typeface="Century Schoolbook"/>
              </a:rPr>
              <a:t>.</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Memory management, register allocation, instruction selection, instruction scheduling, </a:t>
            </a:r>
            <a:r>
              <a:rPr lang="en-US" sz="2400" dirty="0" smtClean="0">
                <a:solidFill>
                  <a:prstClr val="black"/>
                </a:solidFill>
                <a:latin typeface="Century Schoolbook"/>
              </a:rPr>
              <a:t>…</a:t>
            </a:r>
            <a:endParaRPr lang="en-US" sz="24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Generates sufficient information to enable symbolic debugging.</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4622147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a:solidFill>
                  <a:srgbClr val="575F6D"/>
                </a:solidFill>
                <a:latin typeface="Century Schoolbook"/>
              </a:rPr>
              <a:t>Code Generation</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365760" lvl="1" indent="0">
              <a:lnSpc>
                <a:spcPct val="80000"/>
              </a:lnSpc>
              <a:spcBef>
                <a:spcPct val="20000"/>
              </a:spcBef>
              <a:spcAft>
                <a:spcPts val="0"/>
              </a:spcAft>
              <a:buClr>
                <a:srgbClr val="FE8637"/>
              </a:buClr>
              <a:buSzPct val="80000"/>
              <a:buNone/>
            </a:pPr>
            <a:r>
              <a:rPr lang="en-GB" sz="2400" dirty="0">
                <a:solidFill>
                  <a:schemeClr val="tx1"/>
                </a:solidFill>
                <a:latin typeface="Century Schoolbook"/>
                <a:ea typeface="ＭＳ Ｐゴシック" panose="020B0600070205080204" pitchFamily="34" charset="-128"/>
              </a:rPr>
              <a:t>For example, using registers R1 </a:t>
            </a:r>
            <a:r>
              <a:rPr lang="en-GB" sz="2400" dirty="0" smtClean="0">
                <a:solidFill>
                  <a:schemeClr val="tx1"/>
                </a:solidFill>
                <a:latin typeface="Century Schoolbook"/>
                <a:ea typeface="ＭＳ Ｐゴシック" panose="020B0600070205080204" pitchFamily="34" charset="-128"/>
              </a:rPr>
              <a:t>and R2</a:t>
            </a:r>
            <a:r>
              <a:rPr lang="en-GB" sz="2400" dirty="0">
                <a:solidFill>
                  <a:schemeClr val="tx1"/>
                </a:solidFill>
                <a:latin typeface="Century Schoolbook"/>
                <a:ea typeface="ＭＳ Ｐゴシック" panose="020B0600070205080204" pitchFamily="34" charset="-128"/>
              </a:rPr>
              <a:t>, the intermediate code might </a:t>
            </a:r>
            <a:r>
              <a:rPr lang="en-GB" sz="2400" dirty="0" smtClean="0">
                <a:solidFill>
                  <a:schemeClr val="tx1"/>
                </a:solidFill>
                <a:latin typeface="Century Schoolbook"/>
                <a:ea typeface="ＭＳ Ｐゴシック" panose="020B0600070205080204" pitchFamily="34" charset="-128"/>
              </a:rPr>
              <a:t>get translated </a:t>
            </a:r>
            <a:r>
              <a:rPr lang="en-GB" sz="2400" dirty="0">
                <a:solidFill>
                  <a:schemeClr val="tx1"/>
                </a:solidFill>
                <a:latin typeface="Century Schoolbook"/>
                <a:ea typeface="ＭＳ Ｐゴシック" panose="020B0600070205080204" pitchFamily="34" charset="-128"/>
              </a:rPr>
              <a:t>into the machine code</a:t>
            </a:r>
            <a:endParaRPr lang="en-US" sz="2400" dirty="0">
              <a:solidFill>
                <a:schemeClr val="tx1"/>
              </a:solidFill>
              <a:latin typeface="Century Schoolbook"/>
              <a:ea typeface="ＭＳ Ｐゴシック" panose="020B0600070205080204" pitchFamily="34" charset="-128"/>
            </a:endParaRPr>
          </a:p>
        </p:txBody>
      </p:sp>
      <p:pic>
        <p:nvPicPr>
          <p:cNvPr id="4" name="Picture 3"/>
          <p:cNvPicPr>
            <a:picLocks noChangeAspect="1"/>
          </p:cNvPicPr>
          <p:nvPr/>
        </p:nvPicPr>
        <p:blipFill>
          <a:blip r:embed="rId3"/>
          <a:stretch>
            <a:fillRect/>
          </a:stretch>
        </p:blipFill>
        <p:spPr>
          <a:xfrm>
            <a:off x="3634887" y="2609065"/>
            <a:ext cx="4130480" cy="3664135"/>
          </a:xfrm>
          <a:prstGeom prst="rect">
            <a:avLst/>
          </a:prstGeom>
        </p:spPr>
      </p:pic>
    </p:spTree>
    <p:extLst>
      <p:ext uri="{BB962C8B-B14F-4D97-AF65-F5344CB8AC3E}">
        <p14:creationId xmlns:p14="http://schemas.microsoft.com/office/powerpoint/2010/main" val="62245919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Symbol </a:t>
            </a:r>
            <a:r>
              <a:rPr lang="en-US" sz="4000" cap="small" spc="0" dirty="0">
                <a:solidFill>
                  <a:srgbClr val="575F6D"/>
                </a:solidFill>
                <a:latin typeface="Century Schoolbook"/>
              </a:rPr>
              <a:t>Table</a:t>
            </a:r>
            <a:endParaRPr lang="en-US" sz="4000" dirty="0"/>
          </a:p>
        </p:txBody>
      </p:sp>
      <p:sp>
        <p:nvSpPr>
          <p:cNvPr id="3" name="Content Placeholder 2"/>
          <p:cNvSpPr>
            <a:spLocks noGrp="1"/>
          </p:cNvSpPr>
          <p:nvPr>
            <p:ph idx="1"/>
          </p:nvPr>
        </p:nvSpPr>
        <p:spPr>
          <a:xfrm>
            <a:off x="1097280" y="1845734"/>
            <a:ext cx="10058400" cy="4319092"/>
          </a:xfrm>
        </p:spPr>
        <p:txBody>
          <a:bodyPr>
            <a:normAutofit/>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Records the identifiers used in the source program</a:t>
            </a:r>
          </a:p>
          <a:p>
            <a:pPr marL="566928" lvl="1" indent="-274320">
              <a:lnSpc>
                <a:spcPct val="120000"/>
              </a:lnSpc>
              <a:spcBef>
                <a:spcPts val="600"/>
              </a:spcBef>
              <a:spcAft>
                <a:spcPts val="0"/>
              </a:spcAft>
              <a:buClr>
                <a:srgbClr val="FE8637"/>
              </a:buClr>
              <a:buSzPct val="70000"/>
              <a:buFont typeface="Wingdings"/>
              <a:buChar char=""/>
            </a:pPr>
            <a:r>
              <a:rPr lang="en-US" sz="2200" dirty="0">
                <a:solidFill>
                  <a:prstClr val="black"/>
                </a:solidFill>
                <a:latin typeface="Century Schoolbook"/>
              </a:rPr>
              <a:t>Collect information about various attributes of each identifier</a:t>
            </a:r>
          </a:p>
          <a:p>
            <a:pPr marL="761238" lvl="2" indent="-28575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Variables</a:t>
            </a:r>
            <a:r>
              <a:rPr lang="en-US" sz="2000" dirty="0">
                <a:solidFill>
                  <a:prstClr val="black"/>
                </a:solidFill>
                <a:latin typeface="Century Schoolbook"/>
              </a:rPr>
              <a:t>: type, scope, storage allocation</a:t>
            </a:r>
          </a:p>
          <a:p>
            <a:pPr marL="761238" lvl="2" indent="-285750">
              <a:lnSpc>
                <a:spcPct val="120000"/>
              </a:lnSpc>
              <a:spcBef>
                <a:spcPts val="600"/>
              </a:spcBef>
              <a:spcAft>
                <a:spcPts val="0"/>
              </a:spcAft>
              <a:buClr>
                <a:srgbClr val="FE8637"/>
              </a:buClr>
              <a:buSzPct val="70000"/>
              <a:buFont typeface="Wingdings" panose="05000000000000000000" pitchFamily="2" charset="2"/>
              <a:buChar char="§"/>
            </a:pPr>
            <a:r>
              <a:rPr lang="en-US" sz="2000" b="1" dirty="0">
                <a:solidFill>
                  <a:prstClr val="black"/>
                </a:solidFill>
                <a:latin typeface="Century Schoolbook"/>
              </a:rPr>
              <a:t>Procedure</a:t>
            </a:r>
            <a:r>
              <a:rPr lang="en-US" sz="2000" dirty="0">
                <a:solidFill>
                  <a:prstClr val="black"/>
                </a:solidFill>
                <a:latin typeface="Century Schoolbook"/>
              </a:rPr>
              <a:t>: number and types of arguments, method of argument passing</a:t>
            </a:r>
          </a:p>
          <a:p>
            <a:pPr marL="274320" lvl="0" indent="-274320">
              <a:lnSpc>
                <a:spcPct val="120000"/>
              </a:lnSpc>
              <a:spcBef>
                <a:spcPts val="600"/>
              </a:spcBef>
              <a:spcAft>
                <a:spcPts val="0"/>
              </a:spcAft>
              <a:buClr>
                <a:srgbClr val="FE8637"/>
              </a:buClr>
              <a:buSzPct val="70000"/>
              <a:buFont typeface="Wingdings"/>
              <a:buChar char=""/>
            </a:pPr>
            <a:r>
              <a:rPr lang="en-US" sz="2400" b="1" dirty="0">
                <a:solidFill>
                  <a:prstClr val="black"/>
                </a:solidFill>
                <a:latin typeface="Century Schoolbook"/>
              </a:rPr>
              <a:t>It’s a data structure containing a record for each identifier</a:t>
            </a:r>
          </a:p>
          <a:p>
            <a:pPr marL="566928" lvl="1" indent="-274320">
              <a:lnSpc>
                <a:spcPct val="120000"/>
              </a:lnSpc>
              <a:spcBef>
                <a:spcPts val="600"/>
              </a:spcBef>
              <a:spcAft>
                <a:spcPts val="0"/>
              </a:spcAft>
              <a:buClr>
                <a:srgbClr val="FE8637"/>
              </a:buClr>
              <a:buSzPct val="70000"/>
              <a:buFont typeface="Wingdings"/>
              <a:buChar char=""/>
            </a:pPr>
            <a:r>
              <a:rPr lang="en-US" sz="2200" dirty="0">
                <a:solidFill>
                  <a:prstClr val="black"/>
                </a:solidFill>
                <a:latin typeface="Century Schoolbook"/>
              </a:rPr>
              <a:t>Different fields are collected and used at different phases of compilation </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When an identifier in the source program is detected by the lexical analyzer, the identifier is entered into the symbol table</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247690856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Symbol </a:t>
            </a:r>
            <a:r>
              <a:rPr lang="en-US" sz="4000" cap="small" spc="0" dirty="0">
                <a:solidFill>
                  <a:srgbClr val="575F6D"/>
                </a:solidFill>
                <a:latin typeface="Century Schoolbook"/>
              </a:rPr>
              <a:t>Table</a:t>
            </a:r>
            <a:endParaRPr lang="en-US" sz="4000" dirty="0"/>
          </a:p>
        </p:txBody>
      </p:sp>
      <p:sp>
        <p:nvSpPr>
          <p:cNvPr id="3" name="Content Placeholder 2"/>
          <p:cNvSpPr>
            <a:spLocks noGrp="1"/>
          </p:cNvSpPr>
          <p:nvPr>
            <p:ph idx="1"/>
          </p:nvPr>
        </p:nvSpPr>
        <p:spPr>
          <a:xfrm>
            <a:off x="1097280" y="1845734"/>
            <a:ext cx="10058400" cy="4319092"/>
          </a:xfrm>
        </p:spPr>
        <p:txBody>
          <a:bodyPr>
            <a:noAutofit/>
          </a:bodyPr>
          <a:lstStyle/>
          <a:p>
            <a:pPr marL="274320" indent="-274320">
              <a:lnSpc>
                <a:spcPct val="120000"/>
              </a:lnSpc>
              <a:spcBef>
                <a:spcPts val="600"/>
              </a:spcBef>
              <a:spcAft>
                <a:spcPts val="0"/>
              </a:spcAft>
              <a:buClr>
                <a:srgbClr val="FE8637"/>
              </a:buClr>
              <a:buSzPct val="70000"/>
              <a:buFont typeface="Wingdings"/>
              <a:buChar char=""/>
            </a:pPr>
            <a:r>
              <a:rPr lang="en-GB" dirty="0">
                <a:solidFill>
                  <a:prstClr val="black"/>
                </a:solidFill>
                <a:latin typeface="Century Schoolbook"/>
              </a:rPr>
              <a:t>It is built in lexical and syntax analysis </a:t>
            </a:r>
            <a:r>
              <a:rPr lang="en-GB" dirty="0" smtClean="0">
                <a:solidFill>
                  <a:prstClr val="black"/>
                </a:solidFill>
                <a:latin typeface="Century Schoolbook"/>
              </a:rPr>
              <a:t>phases and </a:t>
            </a:r>
            <a:r>
              <a:rPr lang="en-GB" dirty="0">
                <a:solidFill>
                  <a:prstClr val="black"/>
                </a:solidFill>
                <a:latin typeface="Century Schoolbook"/>
              </a:rPr>
              <a:t>It is used by compiler to achieve compile time efficiency</a:t>
            </a:r>
            <a:r>
              <a:rPr lang="en-GB" dirty="0" smtClean="0">
                <a:solidFill>
                  <a:prstClr val="black"/>
                </a:solidFill>
                <a:latin typeface="Century Schoolbook"/>
              </a:rPr>
              <a:t>.</a:t>
            </a:r>
            <a:endParaRPr lang="en-GB"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GB" dirty="0">
                <a:solidFill>
                  <a:prstClr val="black"/>
                </a:solidFill>
                <a:latin typeface="Century Schoolbook"/>
              </a:rPr>
              <a:t>The information is collected by the analysis phases of compiler and is used by synthesis phases of compiler to generate code</a:t>
            </a:r>
            <a:r>
              <a:rPr lang="en-GB" dirty="0" smtClean="0">
                <a:solidFill>
                  <a:prstClr val="black"/>
                </a:solidFill>
                <a:latin typeface="Century Schoolbook"/>
              </a:rPr>
              <a:t>.</a:t>
            </a:r>
            <a:endParaRPr lang="en-GB" dirty="0">
              <a:solidFill>
                <a:prstClr val="black"/>
              </a:solidFill>
              <a:latin typeface="Century Schoolbook"/>
            </a:endParaRPr>
          </a:p>
          <a:p>
            <a:pPr marL="0" lvl="0" indent="0">
              <a:lnSpc>
                <a:spcPct val="150000"/>
              </a:lnSpc>
              <a:spcBef>
                <a:spcPts val="600"/>
              </a:spcBef>
              <a:spcAft>
                <a:spcPts val="0"/>
              </a:spcAft>
              <a:buClr>
                <a:srgbClr val="FE8637"/>
              </a:buClr>
              <a:buSzPct val="70000"/>
              <a:buNone/>
            </a:pPr>
            <a:r>
              <a:rPr lang="en-GB" b="1" dirty="0" smtClean="0">
                <a:solidFill>
                  <a:prstClr val="black"/>
                </a:solidFill>
                <a:latin typeface="Century Schoolbook"/>
              </a:rPr>
              <a:t>Items </a:t>
            </a:r>
            <a:r>
              <a:rPr lang="en-GB" b="1" dirty="0">
                <a:solidFill>
                  <a:prstClr val="black"/>
                </a:solidFill>
                <a:latin typeface="Century Schoolbook"/>
              </a:rPr>
              <a:t>stored in Symbol table</a:t>
            </a:r>
            <a:r>
              <a:rPr lang="en-GB" b="1" dirty="0" smtClean="0">
                <a:solidFill>
                  <a:prstClr val="black"/>
                </a:solidFill>
                <a:latin typeface="Century Schoolbook"/>
              </a:rPr>
              <a:t>:</a:t>
            </a:r>
            <a:endParaRPr lang="en-GB" b="1" dirty="0">
              <a:solidFill>
                <a:prstClr val="black"/>
              </a:solidFill>
              <a:latin typeface="Century Schoolbook"/>
            </a:endParaRP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Variable names and constants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Procedure and function names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Literal constants and strings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Compiler generated temporaries</a:t>
            </a:r>
          </a:p>
          <a:p>
            <a:pPr marL="566928" lvl="1" indent="-274320">
              <a:lnSpc>
                <a:spcPct val="100000"/>
              </a:lnSpc>
              <a:spcBef>
                <a:spcPts val="600"/>
              </a:spcBef>
              <a:spcAft>
                <a:spcPts val="0"/>
              </a:spcAft>
              <a:buClr>
                <a:srgbClr val="FE8637"/>
              </a:buClr>
              <a:buSzPct val="70000"/>
              <a:buFont typeface="Wingdings"/>
              <a:buChar char=""/>
            </a:pPr>
            <a:r>
              <a:rPr lang="en-GB" dirty="0">
                <a:solidFill>
                  <a:prstClr val="black"/>
                </a:solidFill>
                <a:latin typeface="Century Schoolbook"/>
              </a:rPr>
              <a:t>Labels in source languages</a:t>
            </a:r>
          </a:p>
        </p:txBody>
      </p:sp>
    </p:spTree>
    <p:extLst>
      <p:ext uri="{BB962C8B-B14F-4D97-AF65-F5344CB8AC3E}">
        <p14:creationId xmlns:p14="http://schemas.microsoft.com/office/powerpoint/2010/main" val="132226024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Symbol </a:t>
            </a:r>
            <a:r>
              <a:rPr lang="en-US" sz="4000" cap="small" spc="0" dirty="0">
                <a:solidFill>
                  <a:srgbClr val="575F6D"/>
                </a:solidFill>
                <a:latin typeface="Century Schoolbook"/>
              </a:rPr>
              <a:t>Table</a:t>
            </a:r>
            <a:endParaRPr lang="en-US" sz="4000" dirty="0"/>
          </a:p>
        </p:txBody>
      </p:sp>
      <p:sp>
        <p:nvSpPr>
          <p:cNvPr id="3" name="Content Placeholder 2"/>
          <p:cNvSpPr>
            <a:spLocks noGrp="1"/>
          </p:cNvSpPr>
          <p:nvPr>
            <p:ph idx="1"/>
          </p:nvPr>
        </p:nvSpPr>
        <p:spPr>
          <a:xfrm>
            <a:off x="1097280" y="1845734"/>
            <a:ext cx="10058400" cy="4319092"/>
          </a:xfrm>
        </p:spPr>
        <p:txBody>
          <a:bodyPr>
            <a:noAutofit/>
          </a:bodyPr>
          <a:lstStyle/>
          <a:p>
            <a:pPr marL="0" indent="0">
              <a:lnSpc>
                <a:spcPct val="120000"/>
              </a:lnSpc>
              <a:spcBef>
                <a:spcPts val="600"/>
              </a:spcBef>
              <a:spcAft>
                <a:spcPts val="0"/>
              </a:spcAft>
              <a:buClr>
                <a:srgbClr val="FE8637"/>
              </a:buClr>
              <a:buSzPct val="70000"/>
              <a:buNone/>
            </a:pPr>
            <a:r>
              <a:rPr lang="en-GB" dirty="0" smtClean="0">
                <a:solidFill>
                  <a:prstClr val="black"/>
                </a:solidFill>
                <a:latin typeface="Century Schoolbook"/>
              </a:rPr>
              <a:t>  </a:t>
            </a:r>
            <a:r>
              <a:rPr lang="en-GB" b="1" dirty="0" smtClean="0">
                <a:solidFill>
                  <a:prstClr val="black"/>
                </a:solidFill>
                <a:latin typeface="Century Schoolbook"/>
              </a:rPr>
              <a:t>Information </a:t>
            </a:r>
            <a:r>
              <a:rPr lang="en-GB" b="1" dirty="0">
                <a:solidFill>
                  <a:prstClr val="black"/>
                </a:solidFill>
                <a:latin typeface="Century Schoolbook"/>
              </a:rPr>
              <a:t>used by compiler from Symbol table</a:t>
            </a:r>
            <a:r>
              <a:rPr lang="en-GB" b="1" dirty="0" smtClean="0">
                <a:solidFill>
                  <a:prstClr val="black"/>
                </a:solidFill>
                <a:latin typeface="Century Schoolbook"/>
              </a:rPr>
              <a:t>:</a:t>
            </a:r>
            <a:endParaRPr lang="en-GB" b="1" dirty="0">
              <a:solidFill>
                <a:prstClr val="black"/>
              </a:solidFill>
              <a:latin typeface="Century Schoolbook"/>
            </a:endParaRP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Data type and name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Declaring procedures</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Offset in storage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If structure or record then, pointer to structure table.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For parameters, whether parameter passing by value or by reference</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Number and type of arguments passed to function</a:t>
            </a:r>
          </a:p>
          <a:p>
            <a:pPr marL="566928" lvl="1" indent="-274320">
              <a:lnSpc>
                <a:spcPct val="120000"/>
              </a:lnSpc>
              <a:spcBef>
                <a:spcPts val="600"/>
              </a:spcBef>
              <a:spcAft>
                <a:spcPts val="0"/>
              </a:spcAft>
              <a:buClr>
                <a:srgbClr val="FE8637"/>
              </a:buClr>
              <a:buSzPct val="70000"/>
              <a:buFont typeface="Wingdings"/>
              <a:buChar char=""/>
            </a:pPr>
            <a:r>
              <a:rPr lang="en-GB" sz="2000" dirty="0">
                <a:solidFill>
                  <a:prstClr val="black"/>
                </a:solidFill>
                <a:latin typeface="Century Schoolbook"/>
              </a:rPr>
              <a:t>Base Address</a:t>
            </a:r>
          </a:p>
        </p:txBody>
      </p:sp>
    </p:spTree>
    <p:extLst>
      <p:ext uri="{BB962C8B-B14F-4D97-AF65-F5344CB8AC3E}">
        <p14:creationId xmlns:p14="http://schemas.microsoft.com/office/powerpoint/2010/main" val="333685250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cap="small" spc="0" dirty="0" smtClean="0">
                <a:solidFill>
                  <a:srgbClr val="575F6D"/>
                </a:solidFill>
                <a:latin typeface="Century Schoolbook"/>
              </a:rPr>
              <a:t>Symbol </a:t>
            </a:r>
            <a:r>
              <a:rPr lang="en-US" sz="4000" cap="small" spc="0" dirty="0">
                <a:solidFill>
                  <a:srgbClr val="575F6D"/>
                </a:solidFill>
                <a:latin typeface="Century Schoolbook"/>
              </a:rPr>
              <a:t>Table</a:t>
            </a:r>
            <a:endParaRPr lang="en-US" sz="4000" dirty="0"/>
          </a:p>
        </p:txBody>
      </p:sp>
      <p:sp>
        <p:nvSpPr>
          <p:cNvPr id="3" name="Content Placeholder 2"/>
          <p:cNvSpPr>
            <a:spLocks noGrp="1"/>
          </p:cNvSpPr>
          <p:nvPr>
            <p:ph idx="1"/>
          </p:nvPr>
        </p:nvSpPr>
        <p:spPr>
          <a:xfrm>
            <a:off x="1097280" y="1737360"/>
            <a:ext cx="10453036" cy="4711566"/>
          </a:xfrm>
        </p:spPr>
        <p:txBody>
          <a:bodyPr>
            <a:normAutofit fontScale="77500" lnSpcReduction="20000"/>
          </a:bodyPr>
          <a:lstStyle/>
          <a:p>
            <a:pPr marL="0" lvl="0" indent="0">
              <a:lnSpc>
                <a:spcPct val="120000"/>
              </a:lnSpc>
              <a:spcBef>
                <a:spcPts val="600"/>
              </a:spcBef>
              <a:spcAft>
                <a:spcPts val="0"/>
              </a:spcAft>
              <a:buClr>
                <a:srgbClr val="FE8637"/>
              </a:buClr>
              <a:buSzPct val="70000"/>
              <a:buNone/>
            </a:pPr>
            <a:r>
              <a:rPr lang="en-GB" sz="2400" dirty="0" smtClean="0">
                <a:solidFill>
                  <a:prstClr val="black"/>
                </a:solidFill>
                <a:latin typeface="Century Schoolbook"/>
              </a:rPr>
              <a:t>It </a:t>
            </a:r>
            <a:r>
              <a:rPr lang="en-GB" sz="2400" dirty="0">
                <a:solidFill>
                  <a:prstClr val="black"/>
                </a:solidFill>
                <a:latin typeface="Century Schoolbook"/>
              </a:rPr>
              <a:t>is used by various phases of compiler as follows :-</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Lexical Analysis</a:t>
            </a:r>
            <a:r>
              <a:rPr lang="en-GB" sz="2400" dirty="0">
                <a:solidFill>
                  <a:prstClr val="black"/>
                </a:solidFill>
                <a:latin typeface="Century Schoolbook"/>
              </a:rPr>
              <a:t>: Creates new table entries in the table, example like entries about token.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Syntax Analysis</a:t>
            </a:r>
            <a:r>
              <a:rPr lang="en-GB" sz="2400" dirty="0">
                <a:solidFill>
                  <a:prstClr val="black"/>
                </a:solidFill>
                <a:latin typeface="Century Schoolbook"/>
              </a:rPr>
              <a:t>: Adds information regarding attribute type, scope, dimension, line of reference, use, </a:t>
            </a:r>
            <a:r>
              <a:rPr lang="en-GB" sz="2400" dirty="0" err="1">
                <a:solidFill>
                  <a:prstClr val="black"/>
                </a:solidFill>
                <a:latin typeface="Century Schoolbook"/>
              </a:rPr>
              <a:t>etc</a:t>
            </a:r>
            <a:r>
              <a:rPr lang="en-GB" sz="2400" dirty="0">
                <a:solidFill>
                  <a:prstClr val="black"/>
                </a:solidFill>
                <a:latin typeface="Century Schoolbook"/>
              </a:rPr>
              <a:t> in the table.</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Semantic Analysis</a:t>
            </a:r>
            <a:r>
              <a:rPr lang="en-GB" sz="2400" dirty="0">
                <a:solidFill>
                  <a:prstClr val="black"/>
                </a:solidFill>
                <a:latin typeface="Century Schoolbook"/>
              </a:rPr>
              <a:t>: Uses available information in the table to check for semantics i.e. to verify that expressions and assignments are semantically correct(type checking) and update it accordingly.</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Intermediate Code generation</a:t>
            </a:r>
            <a:r>
              <a:rPr lang="en-GB" sz="2400" dirty="0">
                <a:solidFill>
                  <a:prstClr val="black"/>
                </a:solidFill>
                <a:latin typeface="Century Schoolbook"/>
              </a:rPr>
              <a:t>: Refers symbol table for knowing how much and what type of run-time is allocated and table helps in adding temporary variable information.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Code Optimization</a:t>
            </a:r>
            <a:r>
              <a:rPr lang="en-GB" sz="2400" dirty="0">
                <a:solidFill>
                  <a:prstClr val="black"/>
                </a:solidFill>
                <a:latin typeface="Century Schoolbook"/>
              </a:rPr>
              <a:t>: Uses information present in symbol table for machine dependent optimization.</a:t>
            </a:r>
          </a:p>
          <a:p>
            <a:pPr marL="274320" lvl="0" indent="-274320">
              <a:lnSpc>
                <a:spcPct val="120000"/>
              </a:lnSpc>
              <a:spcBef>
                <a:spcPts val="600"/>
              </a:spcBef>
              <a:spcAft>
                <a:spcPts val="0"/>
              </a:spcAft>
              <a:buClr>
                <a:srgbClr val="FE8637"/>
              </a:buClr>
              <a:buSzPct val="70000"/>
              <a:buFont typeface="Wingdings"/>
              <a:buChar char=""/>
            </a:pPr>
            <a:r>
              <a:rPr lang="en-GB" sz="2400" b="1" dirty="0">
                <a:solidFill>
                  <a:prstClr val="black"/>
                </a:solidFill>
                <a:latin typeface="Century Schoolbook"/>
              </a:rPr>
              <a:t>Target Code generation</a:t>
            </a:r>
            <a:r>
              <a:rPr lang="en-GB" sz="2400" dirty="0">
                <a:solidFill>
                  <a:prstClr val="black"/>
                </a:solidFill>
                <a:latin typeface="Century Schoolbook"/>
              </a:rPr>
              <a:t>: Generates code by using address information of identifier present in the table.</a:t>
            </a: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63326798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10058400" cy="4319092"/>
          </a:xfrm>
        </p:spPr>
        <p:txBody>
          <a:bodyPr>
            <a:normAutofit fontScale="92500" lnSpcReduction="20000"/>
          </a:bodyPr>
          <a:lstStyle/>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panose="02040604050505020304" pitchFamily="18" charset="0"/>
              </a:rPr>
              <a:t>Each phase can encounter </a:t>
            </a:r>
            <a:r>
              <a:rPr lang="en-US" sz="2400" dirty="0" smtClean="0">
                <a:solidFill>
                  <a:prstClr val="black"/>
                </a:solidFill>
                <a:latin typeface="Century Schoolbook" panose="02040604050505020304" pitchFamily="18" charset="0"/>
              </a:rPr>
              <a:t>error. </a:t>
            </a:r>
          </a:p>
          <a:p>
            <a:pPr marL="274320" lvl="0" indent="-274320">
              <a:lnSpc>
                <a:spcPct val="120000"/>
              </a:lnSpc>
              <a:spcBef>
                <a:spcPts val="600"/>
              </a:spcBef>
              <a:spcAft>
                <a:spcPts val="0"/>
              </a:spcAft>
              <a:buClr>
                <a:srgbClr val="FE8637"/>
              </a:buClr>
              <a:buSzPct val="70000"/>
              <a:buFont typeface="Wingdings"/>
              <a:buChar char=""/>
            </a:pPr>
            <a:r>
              <a:rPr lang="en-GB" sz="2400" dirty="0" smtClean="0">
                <a:latin typeface="Century Schoolbook" panose="02040604050505020304" pitchFamily="18" charset="0"/>
              </a:rPr>
              <a:t>The </a:t>
            </a:r>
            <a:r>
              <a:rPr lang="en-GB" sz="2400" dirty="0">
                <a:latin typeface="Century Schoolbook" panose="02040604050505020304" pitchFamily="18" charset="0"/>
              </a:rPr>
              <a:t>tasks of the </a:t>
            </a:r>
            <a:r>
              <a:rPr lang="en-GB" sz="2400" b="1" dirty="0">
                <a:latin typeface="Century Schoolbook" panose="02040604050505020304" pitchFamily="18" charset="0"/>
              </a:rPr>
              <a:t>Error Handling</a:t>
            </a:r>
            <a:r>
              <a:rPr lang="en-GB" sz="2400" dirty="0">
                <a:latin typeface="Century Schoolbook" panose="02040604050505020304" pitchFamily="18" charset="0"/>
              </a:rPr>
              <a:t> process are to detect each error, report it to the user, and then make some recover strategy and implement them to handle error. </a:t>
            </a:r>
            <a:endParaRPr lang="en-US" sz="2400" dirty="0">
              <a:solidFill>
                <a:prstClr val="black"/>
              </a:solidFill>
              <a:latin typeface="Century Schoolbook" panose="02040604050505020304" pitchFamily="18" charset="0"/>
            </a:endParaRP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Specific types of error can be detected by specific phases</a:t>
            </a: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smtClean="0">
                <a:solidFill>
                  <a:prstClr val="black"/>
                </a:solidFill>
                <a:latin typeface="Century Schoolbook"/>
              </a:rPr>
              <a:t>Lexical Error </a:t>
            </a:r>
            <a:r>
              <a:rPr lang="en-US" sz="2000" dirty="0" smtClean="0">
                <a:solidFill>
                  <a:prstClr val="black"/>
                </a:solidFill>
                <a:latin typeface="Century Schoolbook"/>
              </a:rPr>
              <a:t>:</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int</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abc</a:t>
            </a:r>
            <a:r>
              <a:rPr lang="en-US" sz="2000" i="1" dirty="0">
                <a:solidFill>
                  <a:srgbClr val="FE8637">
                    <a:lumMod val="75000"/>
                  </a:srgbClr>
                </a:solidFill>
                <a:latin typeface="Century Schoolbook"/>
                <a:ea typeface="ＭＳ Ｐゴシック" panose="020B0600070205080204" pitchFamily="34" charset="-128"/>
              </a:rPr>
              <a:t>, 1num ; </a:t>
            </a:r>
            <a:endParaRPr lang="en-US" sz="2000" i="1" dirty="0" smtClean="0">
              <a:solidFill>
                <a:srgbClr val="FE8637">
                  <a:lumMod val="75000"/>
                </a:srgbClr>
              </a:solidFill>
              <a:latin typeface="Century Schoolbook"/>
              <a:ea typeface="ＭＳ Ｐゴシック" panose="020B0600070205080204" pitchFamily="34" charset="-128"/>
            </a:endParaRP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smtClean="0">
                <a:solidFill>
                  <a:prstClr val="black"/>
                </a:solidFill>
                <a:latin typeface="Century Schoolbook"/>
              </a:rPr>
              <a:t>Syntax Error</a:t>
            </a:r>
            <a:r>
              <a:rPr lang="en-US" sz="2000" dirty="0" smtClean="0">
                <a:solidFill>
                  <a:prstClr val="black"/>
                </a:solidFill>
                <a:latin typeface="Century Schoolbook"/>
              </a:rPr>
              <a:t>:   </a:t>
            </a:r>
            <a:r>
              <a:rPr lang="en-US" sz="2000" i="1" dirty="0" smtClean="0">
                <a:solidFill>
                  <a:srgbClr val="FE8637">
                    <a:lumMod val="75000"/>
                  </a:srgbClr>
                </a:solidFill>
                <a:latin typeface="Century Schoolbook"/>
                <a:ea typeface="ＭＳ Ｐゴシック" panose="020B0600070205080204" pitchFamily="34" charset="-128"/>
              </a:rPr>
              <a:t>total </a:t>
            </a:r>
            <a:r>
              <a:rPr lang="en-US" sz="2000" i="1" dirty="0">
                <a:solidFill>
                  <a:srgbClr val="FE8637">
                    <a:lumMod val="75000"/>
                  </a:srgbClr>
                </a:solidFill>
                <a:latin typeface="Century Schoolbook"/>
                <a:ea typeface="ＭＳ Ｐゴシック" panose="020B0600070205080204" pitchFamily="34" charset="-128"/>
              </a:rPr>
              <a:t>= capital + rate   year; </a:t>
            </a:r>
            <a:endParaRPr lang="en-US" sz="2000" dirty="0" smtClean="0">
              <a:solidFill>
                <a:prstClr val="black"/>
              </a:solidFill>
              <a:latin typeface="Century Schoolbook"/>
            </a:endParaRPr>
          </a:p>
          <a:p>
            <a:pPr marL="635508" lvl="1" indent="-342900">
              <a:lnSpc>
                <a:spcPct val="120000"/>
              </a:lnSpc>
              <a:spcBef>
                <a:spcPts val="600"/>
              </a:spcBef>
              <a:spcAft>
                <a:spcPts val="0"/>
              </a:spcAft>
              <a:buClr>
                <a:srgbClr val="FE8637"/>
              </a:buClr>
              <a:buSzPct val="70000"/>
              <a:buFont typeface="Wingdings" panose="05000000000000000000" pitchFamily="2" charset="2"/>
              <a:buChar char="§"/>
            </a:pPr>
            <a:r>
              <a:rPr lang="en-US" sz="2000" b="1" dirty="0" smtClean="0">
                <a:solidFill>
                  <a:prstClr val="black"/>
                </a:solidFill>
                <a:latin typeface="Century Schoolbook"/>
              </a:rPr>
              <a:t>Semantic Error</a:t>
            </a:r>
            <a:r>
              <a:rPr lang="en-US" sz="2000" dirty="0" smtClean="0">
                <a:solidFill>
                  <a:prstClr val="black"/>
                </a:solidFill>
                <a:latin typeface="Century Schoolbook"/>
              </a:rPr>
              <a:t>:  </a:t>
            </a:r>
            <a:r>
              <a:rPr lang="en-US" sz="2000" i="1" dirty="0">
                <a:solidFill>
                  <a:srgbClr val="FE8637">
                    <a:lumMod val="75000"/>
                  </a:srgbClr>
                </a:solidFill>
                <a:latin typeface="Century Schoolbook"/>
                <a:ea typeface="ＭＳ Ｐゴシック" panose="020B0600070205080204" pitchFamily="34" charset="-128"/>
              </a:rPr>
              <a:t>value = </a:t>
            </a:r>
            <a:r>
              <a:rPr lang="en-US" sz="2000" i="1" dirty="0" err="1">
                <a:solidFill>
                  <a:srgbClr val="FE8637">
                    <a:lumMod val="75000"/>
                  </a:srgbClr>
                </a:solidFill>
                <a:latin typeface="Century Schoolbook"/>
                <a:ea typeface="ＭＳ Ｐゴシック" panose="020B0600070205080204" pitchFamily="34" charset="-128"/>
              </a:rPr>
              <a:t>myarray</a:t>
            </a:r>
            <a:r>
              <a:rPr lang="en-US" sz="2000" i="1" dirty="0">
                <a:solidFill>
                  <a:srgbClr val="FE8637">
                    <a:lumMod val="75000"/>
                  </a:srgbClr>
                </a:solidFill>
                <a:latin typeface="Century Schoolbook"/>
                <a:ea typeface="ＭＳ Ｐゴシック" panose="020B0600070205080204" pitchFamily="34" charset="-128"/>
              </a:rPr>
              <a:t> [</a:t>
            </a:r>
            <a:r>
              <a:rPr lang="en-US" sz="2000" i="1" dirty="0" err="1">
                <a:solidFill>
                  <a:srgbClr val="FE8637">
                    <a:lumMod val="75000"/>
                  </a:srgbClr>
                </a:solidFill>
                <a:latin typeface="Century Schoolbook"/>
                <a:ea typeface="ＭＳ Ｐゴシック" panose="020B0600070205080204" pitchFamily="34" charset="-128"/>
              </a:rPr>
              <a:t>realIndex</a:t>
            </a:r>
            <a:r>
              <a:rPr lang="en-US" sz="2000" i="1" dirty="0">
                <a:solidFill>
                  <a:srgbClr val="FE8637">
                    <a:lumMod val="75000"/>
                  </a:srgbClr>
                </a:solidFill>
                <a:latin typeface="Century Schoolbook"/>
                <a:ea typeface="ＭＳ Ｐゴシック" panose="020B0600070205080204" pitchFamily="34" charset="-128"/>
              </a:rPr>
              <a:t>];</a:t>
            </a:r>
          </a:p>
          <a:p>
            <a:pPr marL="274320" lvl="0" indent="-274320">
              <a:lnSpc>
                <a:spcPct val="120000"/>
              </a:lnSpc>
              <a:spcBef>
                <a:spcPts val="600"/>
              </a:spcBef>
              <a:spcAft>
                <a:spcPts val="0"/>
              </a:spcAft>
              <a:buClr>
                <a:srgbClr val="FE8637"/>
              </a:buClr>
              <a:buSzPct val="70000"/>
              <a:buFont typeface="Wingdings"/>
              <a:buChar char=""/>
            </a:pPr>
            <a:r>
              <a:rPr lang="en-US" sz="2400" dirty="0" smtClean="0">
                <a:solidFill>
                  <a:prstClr val="black"/>
                </a:solidFill>
                <a:latin typeface="Century Schoolbook"/>
              </a:rPr>
              <a:t>Should </a:t>
            </a:r>
            <a:r>
              <a:rPr lang="en-US" sz="2400" dirty="0">
                <a:solidFill>
                  <a:prstClr val="black"/>
                </a:solidFill>
                <a:latin typeface="Century Schoolbook"/>
              </a:rPr>
              <a:t>be able to proceed and process the rest of the program after an error detected</a:t>
            </a:r>
          </a:p>
          <a:p>
            <a:pPr marL="274320" lvl="0" indent="-274320">
              <a:lnSpc>
                <a:spcPct val="120000"/>
              </a:lnSpc>
              <a:spcBef>
                <a:spcPts val="600"/>
              </a:spcBef>
              <a:spcAft>
                <a:spcPts val="0"/>
              </a:spcAft>
              <a:buClr>
                <a:srgbClr val="FE8637"/>
              </a:buClr>
              <a:buSzPct val="70000"/>
              <a:buFont typeface="Wingdings"/>
              <a:buChar char=""/>
            </a:pPr>
            <a:r>
              <a:rPr lang="en-US" sz="2400" dirty="0">
                <a:solidFill>
                  <a:prstClr val="black"/>
                </a:solidFill>
                <a:latin typeface="Century Schoolbook"/>
              </a:rPr>
              <a:t>Should be able to link the error with the source program</a:t>
            </a: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21495790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10058400" cy="4319092"/>
          </a:xfrm>
        </p:spPr>
        <p:txBody>
          <a:bodyPr>
            <a:noAutofit/>
          </a:bodyPr>
          <a:lstStyle/>
          <a:p>
            <a:pPr marL="0" lvl="0" indent="0">
              <a:lnSpc>
                <a:spcPct val="120000"/>
              </a:lnSpc>
              <a:spcBef>
                <a:spcPts val="600"/>
              </a:spcBef>
              <a:spcAft>
                <a:spcPts val="0"/>
              </a:spcAft>
              <a:buClr>
                <a:srgbClr val="FE8637"/>
              </a:buClr>
              <a:buSzPct val="70000"/>
              <a:buNone/>
            </a:pPr>
            <a:r>
              <a:rPr lang="en-GB" sz="2200" dirty="0">
                <a:solidFill>
                  <a:prstClr val="black"/>
                </a:solidFill>
                <a:latin typeface="Century Schoolbook"/>
              </a:rPr>
              <a:t>Types or Sources of Error – </a:t>
            </a:r>
            <a:endParaRPr lang="en-GB" sz="2200" dirty="0" smtClean="0">
              <a:solidFill>
                <a:prstClr val="black"/>
              </a:solidFill>
              <a:latin typeface="Century Schoolbook"/>
            </a:endParaRPr>
          </a:p>
          <a:p>
            <a:pPr marL="0" lvl="0" indent="0">
              <a:lnSpc>
                <a:spcPct val="120000"/>
              </a:lnSpc>
              <a:spcBef>
                <a:spcPts val="600"/>
              </a:spcBef>
              <a:spcAft>
                <a:spcPts val="0"/>
              </a:spcAft>
              <a:buClr>
                <a:srgbClr val="FE8637"/>
              </a:buClr>
              <a:buSzPct val="70000"/>
              <a:buNone/>
            </a:pPr>
            <a:r>
              <a:rPr lang="en-GB" sz="2200" dirty="0" smtClean="0">
                <a:solidFill>
                  <a:prstClr val="black"/>
                </a:solidFill>
                <a:latin typeface="Century Schoolbook"/>
              </a:rPr>
              <a:t>There </a:t>
            </a:r>
            <a:r>
              <a:rPr lang="en-GB" sz="2200" dirty="0">
                <a:solidFill>
                  <a:prstClr val="black"/>
                </a:solidFill>
                <a:latin typeface="Century Schoolbook"/>
              </a:rPr>
              <a:t>are two types of error: </a:t>
            </a:r>
            <a:r>
              <a:rPr lang="en-GB" sz="2200" dirty="0" smtClean="0">
                <a:solidFill>
                  <a:prstClr val="black"/>
                </a:solidFill>
                <a:latin typeface="Century Schoolbook"/>
              </a:rPr>
              <a:t>Run-time </a:t>
            </a:r>
            <a:r>
              <a:rPr lang="en-GB" sz="2200" dirty="0">
                <a:solidFill>
                  <a:prstClr val="black"/>
                </a:solidFill>
                <a:latin typeface="Century Schoolbook"/>
              </a:rPr>
              <a:t>and </a:t>
            </a:r>
            <a:r>
              <a:rPr lang="en-GB" sz="2200" dirty="0" smtClean="0">
                <a:solidFill>
                  <a:prstClr val="black"/>
                </a:solidFill>
                <a:latin typeface="Century Schoolbook"/>
              </a:rPr>
              <a:t>Compile-time </a:t>
            </a:r>
            <a:r>
              <a:rPr lang="en-GB" sz="2200" dirty="0">
                <a:solidFill>
                  <a:prstClr val="black"/>
                </a:solidFill>
                <a:latin typeface="Century Schoolbook"/>
              </a:rPr>
              <a:t>error</a:t>
            </a:r>
            <a:r>
              <a:rPr lang="en-GB" sz="2200" dirty="0" smtClean="0">
                <a:solidFill>
                  <a:prstClr val="black"/>
                </a:solidFill>
                <a:latin typeface="Century Schoolbook"/>
              </a:rPr>
              <a:t>:</a:t>
            </a:r>
            <a:endParaRPr lang="en-GB" sz="2200" dirty="0">
              <a:solidFill>
                <a:prstClr val="black"/>
              </a:solidFill>
              <a:latin typeface="Century Schoolbook"/>
            </a:endParaRPr>
          </a:p>
          <a:p>
            <a:pPr marL="274320" lvl="0" indent="-274320">
              <a:lnSpc>
                <a:spcPct val="120000"/>
              </a:lnSpc>
              <a:spcBef>
                <a:spcPts val="600"/>
              </a:spcBef>
              <a:spcAft>
                <a:spcPts val="0"/>
              </a:spcAft>
              <a:buClr>
                <a:srgbClr val="FE8637"/>
              </a:buClr>
              <a:buSzPct val="70000"/>
              <a:buFont typeface="Wingdings"/>
              <a:buChar char=""/>
            </a:pPr>
            <a:r>
              <a:rPr lang="en-GB" sz="2200" b="1" dirty="0">
                <a:solidFill>
                  <a:prstClr val="black"/>
                </a:solidFill>
                <a:latin typeface="Century Schoolbook"/>
              </a:rPr>
              <a:t>A </a:t>
            </a:r>
            <a:r>
              <a:rPr lang="en-GB" sz="2200" b="1" dirty="0" smtClean="0">
                <a:solidFill>
                  <a:prstClr val="black"/>
                </a:solidFill>
                <a:latin typeface="Century Schoolbook"/>
              </a:rPr>
              <a:t>Run-time </a:t>
            </a:r>
            <a:r>
              <a:rPr lang="en-GB" sz="2200" b="1" dirty="0">
                <a:solidFill>
                  <a:prstClr val="black"/>
                </a:solidFill>
                <a:latin typeface="Century Schoolbook"/>
              </a:rPr>
              <a:t>error </a:t>
            </a:r>
            <a:r>
              <a:rPr lang="en-GB" sz="2200" dirty="0">
                <a:solidFill>
                  <a:prstClr val="black"/>
                </a:solidFill>
                <a:latin typeface="Century Schoolbook"/>
              </a:rPr>
              <a:t>is an error which takes place during the execution of a program, and usually happens because of adverse system parameters or invalid input data. </a:t>
            </a:r>
            <a:endParaRPr lang="en-GB" sz="2200" dirty="0" smtClean="0">
              <a:solidFill>
                <a:prstClr val="black"/>
              </a:solidFill>
              <a:latin typeface="Century Schoolbook"/>
            </a:endParaRPr>
          </a:p>
          <a:p>
            <a:pPr marL="566928" lvl="1" indent="-274320">
              <a:lnSpc>
                <a:spcPct val="120000"/>
              </a:lnSpc>
              <a:spcBef>
                <a:spcPts val="600"/>
              </a:spcBef>
              <a:spcAft>
                <a:spcPts val="0"/>
              </a:spcAft>
              <a:buClr>
                <a:srgbClr val="FE8637"/>
              </a:buClr>
              <a:buSzPct val="70000"/>
              <a:buFont typeface="Wingdings"/>
              <a:buChar char=""/>
            </a:pPr>
            <a:r>
              <a:rPr lang="en-GB" sz="2200" dirty="0" smtClean="0">
                <a:solidFill>
                  <a:prstClr val="black"/>
                </a:solidFill>
                <a:latin typeface="Century Schoolbook"/>
              </a:rPr>
              <a:t>The </a:t>
            </a:r>
            <a:r>
              <a:rPr lang="en-GB" sz="2200" dirty="0">
                <a:solidFill>
                  <a:prstClr val="black"/>
                </a:solidFill>
                <a:latin typeface="Century Schoolbook"/>
              </a:rPr>
              <a:t>lack of sufficient memory to run an application or a memory conflict with another </a:t>
            </a:r>
            <a:r>
              <a:rPr lang="en-GB" sz="2200" dirty="0" smtClean="0">
                <a:solidFill>
                  <a:prstClr val="black"/>
                </a:solidFill>
                <a:latin typeface="Century Schoolbook"/>
              </a:rPr>
              <a:t>program</a:t>
            </a:r>
          </a:p>
          <a:p>
            <a:pPr marL="566928" lvl="1" indent="-274320">
              <a:lnSpc>
                <a:spcPct val="120000"/>
              </a:lnSpc>
              <a:spcBef>
                <a:spcPts val="600"/>
              </a:spcBef>
              <a:spcAft>
                <a:spcPts val="0"/>
              </a:spcAft>
              <a:buClr>
                <a:srgbClr val="FE8637"/>
              </a:buClr>
              <a:buSzPct val="70000"/>
              <a:buFont typeface="Wingdings"/>
              <a:buChar char=""/>
            </a:pPr>
            <a:r>
              <a:rPr lang="en-GB" sz="2200" dirty="0" smtClean="0">
                <a:solidFill>
                  <a:prstClr val="black"/>
                </a:solidFill>
                <a:latin typeface="Century Schoolbook"/>
              </a:rPr>
              <a:t>Logical </a:t>
            </a:r>
            <a:r>
              <a:rPr lang="en-GB" sz="2200" dirty="0">
                <a:solidFill>
                  <a:prstClr val="black"/>
                </a:solidFill>
                <a:latin typeface="Century Schoolbook"/>
              </a:rPr>
              <a:t>error </a:t>
            </a:r>
            <a:r>
              <a:rPr lang="en-GB" sz="2200" dirty="0" smtClean="0">
                <a:solidFill>
                  <a:prstClr val="black"/>
                </a:solidFill>
                <a:latin typeface="Century Schoolbook"/>
              </a:rPr>
              <a:t>is another example. </a:t>
            </a:r>
            <a:r>
              <a:rPr lang="en-GB" sz="2200" dirty="0">
                <a:solidFill>
                  <a:prstClr val="black"/>
                </a:solidFill>
                <a:latin typeface="Century Schoolbook"/>
              </a:rPr>
              <a:t>Logic errors, occur when executed code does not produce the expected result. Logic errors are best handled by meticulous program debugging</a:t>
            </a:r>
            <a:r>
              <a:rPr lang="en-GB" sz="2200" dirty="0" smtClean="0">
                <a:solidFill>
                  <a:prstClr val="black"/>
                </a:solidFill>
                <a:latin typeface="Century Schoolbook"/>
              </a:rPr>
              <a:t>.</a:t>
            </a:r>
            <a:endParaRPr lang="en-GB" sz="2200" dirty="0">
              <a:solidFill>
                <a:prstClr val="black"/>
              </a:solidFill>
              <a:latin typeface="Century Schoolbook"/>
            </a:endParaRPr>
          </a:p>
        </p:txBody>
      </p:sp>
    </p:spTree>
    <p:extLst>
      <p:ext uri="{BB962C8B-B14F-4D97-AF65-F5344CB8AC3E}">
        <p14:creationId xmlns:p14="http://schemas.microsoft.com/office/powerpoint/2010/main" val="25024527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Error Detection, Recovery and Reporting</a:t>
            </a:r>
            <a:endParaRPr lang="en-US" sz="3600" dirty="0"/>
          </a:p>
        </p:txBody>
      </p:sp>
      <p:sp>
        <p:nvSpPr>
          <p:cNvPr id="3" name="Content Placeholder 2"/>
          <p:cNvSpPr>
            <a:spLocks noGrp="1"/>
          </p:cNvSpPr>
          <p:nvPr>
            <p:ph idx="1"/>
          </p:nvPr>
        </p:nvSpPr>
        <p:spPr>
          <a:xfrm>
            <a:off x="1097280" y="1845734"/>
            <a:ext cx="9804083" cy="4319092"/>
          </a:xfrm>
        </p:spPr>
        <p:txBody>
          <a:bodyPr>
            <a:normAutofit lnSpcReduction="10000"/>
          </a:bodyPr>
          <a:lstStyle/>
          <a:p>
            <a:pPr marL="0" lvl="0" indent="0">
              <a:lnSpc>
                <a:spcPct val="120000"/>
              </a:lnSpc>
              <a:spcBef>
                <a:spcPts val="600"/>
              </a:spcBef>
              <a:spcAft>
                <a:spcPts val="0"/>
              </a:spcAft>
              <a:buClr>
                <a:srgbClr val="FE8637"/>
              </a:buClr>
              <a:buSzPct val="70000"/>
              <a:buNone/>
            </a:pPr>
            <a:r>
              <a:rPr lang="en-GB" dirty="0">
                <a:solidFill>
                  <a:prstClr val="black"/>
                </a:solidFill>
                <a:latin typeface="Century Schoolbook"/>
              </a:rPr>
              <a:t>Types or Sources of Error – </a:t>
            </a:r>
          </a:p>
          <a:p>
            <a:pPr marL="0" lvl="0" indent="0">
              <a:lnSpc>
                <a:spcPct val="120000"/>
              </a:lnSpc>
              <a:spcBef>
                <a:spcPts val="600"/>
              </a:spcBef>
              <a:spcAft>
                <a:spcPts val="0"/>
              </a:spcAft>
              <a:buClr>
                <a:srgbClr val="FE8637"/>
              </a:buClr>
              <a:buSzPct val="70000"/>
              <a:buNone/>
            </a:pPr>
            <a:r>
              <a:rPr lang="en-GB" dirty="0">
                <a:solidFill>
                  <a:prstClr val="black"/>
                </a:solidFill>
                <a:latin typeface="Century Schoolbook"/>
              </a:rPr>
              <a:t>There are two types of error: Run-time and Compile-time error:</a:t>
            </a:r>
          </a:p>
          <a:p>
            <a:pPr marL="274320" lvl="0" indent="-274320">
              <a:lnSpc>
                <a:spcPct val="120000"/>
              </a:lnSpc>
              <a:spcBef>
                <a:spcPts val="600"/>
              </a:spcBef>
              <a:spcAft>
                <a:spcPts val="0"/>
              </a:spcAft>
              <a:buClr>
                <a:srgbClr val="FE8637"/>
              </a:buClr>
              <a:buSzPct val="70000"/>
              <a:buFont typeface="Wingdings"/>
              <a:buChar char=""/>
            </a:pPr>
            <a:r>
              <a:rPr lang="en-GB" b="1" dirty="0" smtClean="0">
                <a:solidFill>
                  <a:prstClr val="black"/>
                </a:solidFill>
                <a:latin typeface="Century Schoolbook"/>
              </a:rPr>
              <a:t>A Compile-time error </a:t>
            </a:r>
            <a:r>
              <a:rPr lang="en-GB" dirty="0">
                <a:solidFill>
                  <a:prstClr val="black"/>
                </a:solidFill>
                <a:latin typeface="Century Schoolbook"/>
              </a:rPr>
              <a:t>rises at compile time, before execution of the program. Syntax error or missing file reference that prevents the program from successfully compiling is the example of this</a:t>
            </a:r>
            <a:r>
              <a:rPr lang="en-GB" dirty="0" smtClean="0">
                <a:solidFill>
                  <a:prstClr val="black"/>
                </a:solidFill>
                <a:latin typeface="Century Schoolbook"/>
              </a:rPr>
              <a:t>.</a:t>
            </a:r>
          </a:p>
          <a:p>
            <a:pPr lvl="1">
              <a:lnSpc>
                <a:spcPct val="120000"/>
              </a:lnSpc>
              <a:spcBef>
                <a:spcPts val="600"/>
              </a:spcBef>
              <a:spcAft>
                <a:spcPts val="0"/>
              </a:spcAft>
              <a:buClr>
                <a:srgbClr val="FE8637"/>
              </a:buClr>
              <a:buSzPct val="70000"/>
              <a:buFont typeface="Wingdings" panose="05000000000000000000" pitchFamily="2" charset="2"/>
              <a:buChar char="q"/>
            </a:pPr>
            <a:r>
              <a:rPr lang="en-GB" sz="2000" dirty="0">
                <a:solidFill>
                  <a:schemeClr val="tx1"/>
                </a:solidFill>
                <a:latin typeface="Century Schoolbook"/>
                <a:ea typeface="ＭＳ Ｐゴシック" panose="020B0600070205080204" pitchFamily="34" charset="-128"/>
              </a:rPr>
              <a:t>Classification of Compile-time error </a:t>
            </a:r>
            <a:r>
              <a:rPr lang="en-GB" sz="2000" dirty="0" smtClean="0">
                <a:solidFill>
                  <a:schemeClr val="tx1"/>
                </a:solidFill>
                <a:latin typeface="Century Schoolbook"/>
                <a:ea typeface="ＭＳ Ｐゴシック" panose="020B0600070205080204" pitchFamily="34" charset="-128"/>
              </a:rPr>
              <a:t>–</a:t>
            </a:r>
            <a:endParaRPr lang="en-GB" sz="2000" dirty="0">
              <a:solidFill>
                <a:schemeClr val="tx1"/>
              </a:solidFill>
              <a:latin typeface="Century Schoolbook"/>
              <a:ea typeface="ＭＳ Ｐゴシック" panose="020B0600070205080204" pitchFamily="34" charset="-128"/>
            </a:endParaRP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Lexical</a:t>
            </a:r>
            <a:r>
              <a:rPr lang="en-GB" sz="1800" dirty="0">
                <a:solidFill>
                  <a:schemeClr val="tx1"/>
                </a:solidFill>
                <a:latin typeface="Century Schoolbook"/>
                <a:ea typeface="ＭＳ Ｐゴシック" panose="020B0600070205080204" pitchFamily="34" charset="-128"/>
              </a:rPr>
              <a:t> : This includes misspellings of identifiers, keywords or operators</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Syntactical</a:t>
            </a:r>
            <a:r>
              <a:rPr lang="en-GB" sz="1800" dirty="0">
                <a:solidFill>
                  <a:schemeClr val="tx1"/>
                </a:solidFill>
                <a:latin typeface="Century Schoolbook"/>
                <a:ea typeface="ＭＳ Ｐゴシック" panose="020B0600070205080204" pitchFamily="34" charset="-128"/>
              </a:rPr>
              <a:t> : missing semicolon or unbalanced parenthesis</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Semantical</a:t>
            </a:r>
            <a:r>
              <a:rPr lang="en-GB" sz="1800" dirty="0">
                <a:solidFill>
                  <a:schemeClr val="tx1"/>
                </a:solidFill>
                <a:latin typeface="Century Schoolbook"/>
                <a:ea typeface="ＭＳ Ｐゴシック" panose="020B0600070205080204" pitchFamily="34" charset="-128"/>
              </a:rPr>
              <a:t> : incompatible value assignment or type mismatches between operator and operand</a:t>
            </a:r>
          </a:p>
          <a:p>
            <a:pPr marL="749808" lvl="2" indent="-274320">
              <a:lnSpc>
                <a:spcPct val="120000"/>
              </a:lnSpc>
              <a:spcBef>
                <a:spcPts val="600"/>
              </a:spcBef>
              <a:spcAft>
                <a:spcPts val="0"/>
              </a:spcAft>
              <a:buClr>
                <a:srgbClr val="FE8637"/>
              </a:buClr>
              <a:buSzPct val="70000"/>
              <a:buFont typeface="Wingdings"/>
              <a:buChar char=""/>
            </a:pPr>
            <a:r>
              <a:rPr lang="en-GB" sz="1800" b="1" dirty="0">
                <a:solidFill>
                  <a:schemeClr val="tx1"/>
                </a:solidFill>
                <a:latin typeface="Century Schoolbook"/>
                <a:ea typeface="ＭＳ Ｐゴシック" panose="020B0600070205080204" pitchFamily="34" charset="-128"/>
              </a:rPr>
              <a:t>Logical</a:t>
            </a:r>
            <a:r>
              <a:rPr lang="en-GB" sz="1800" dirty="0">
                <a:solidFill>
                  <a:schemeClr val="tx1"/>
                </a:solidFill>
                <a:latin typeface="Century Schoolbook"/>
                <a:ea typeface="ＭＳ Ｐゴシック" panose="020B0600070205080204" pitchFamily="34" charset="-128"/>
              </a:rPr>
              <a:t> : code not reachable, infinite loop.</a:t>
            </a:r>
            <a:endParaRPr lang="en-US" sz="1800" dirty="0">
              <a:solidFill>
                <a:schemeClr val="tx1"/>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38394508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Reviewing the Entire Process</a:t>
            </a:r>
            <a:endParaRPr lang="en-US" sz="3600" dirty="0"/>
          </a:p>
        </p:txBody>
      </p:sp>
      <p:pic>
        <p:nvPicPr>
          <p:cNvPr id="3" name="Picture 2"/>
          <p:cNvPicPr>
            <a:picLocks noChangeAspect="1"/>
          </p:cNvPicPr>
          <p:nvPr/>
        </p:nvPicPr>
        <p:blipFill>
          <a:blip r:embed="rId3"/>
          <a:stretch>
            <a:fillRect/>
          </a:stretch>
        </p:blipFill>
        <p:spPr>
          <a:xfrm>
            <a:off x="2541316" y="1737360"/>
            <a:ext cx="6335397" cy="4806164"/>
          </a:xfrm>
          <a:prstGeom prst="rect">
            <a:avLst/>
          </a:prstGeom>
        </p:spPr>
      </p:pic>
      <p:pic>
        <p:nvPicPr>
          <p:cNvPr id="4" name="Picture 3"/>
          <p:cNvPicPr>
            <a:picLocks noChangeAspect="1"/>
          </p:cNvPicPr>
          <p:nvPr/>
        </p:nvPicPr>
        <p:blipFill>
          <a:blip r:embed="rId4"/>
          <a:stretch>
            <a:fillRect/>
          </a:stretch>
        </p:blipFill>
        <p:spPr>
          <a:xfrm>
            <a:off x="4313629" y="1807699"/>
            <a:ext cx="3424384" cy="296780"/>
          </a:xfrm>
          <a:prstGeom prst="rect">
            <a:avLst/>
          </a:prstGeom>
        </p:spPr>
      </p:pic>
      <p:pic>
        <p:nvPicPr>
          <p:cNvPr id="5" name="Picture 4"/>
          <p:cNvPicPr>
            <a:picLocks noChangeAspect="1"/>
          </p:cNvPicPr>
          <p:nvPr/>
        </p:nvPicPr>
        <p:blipFill>
          <a:blip r:embed="rId5"/>
          <a:stretch>
            <a:fillRect/>
          </a:stretch>
        </p:blipFill>
        <p:spPr>
          <a:xfrm>
            <a:off x="4594985" y="2497456"/>
            <a:ext cx="3029705" cy="279665"/>
          </a:xfrm>
          <a:prstGeom prst="rect">
            <a:avLst/>
          </a:prstGeom>
        </p:spPr>
      </p:pic>
      <p:pic>
        <p:nvPicPr>
          <p:cNvPr id="6" name="Picture 5"/>
          <p:cNvPicPr>
            <a:picLocks noChangeAspect="1"/>
          </p:cNvPicPr>
          <p:nvPr/>
        </p:nvPicPr>
        <p:blipFill>
          <a:blip r:embed="rId6"/>
          <a:stretch>
            <a:fillRect/>
          </a:stretch>
        </p:blipFill>
        <p:spPr>
          <a:xfrm>
            <a:off x="4468374" y="3200186"/>
            <a:ext cx="3421161" cy="1048289"/>
          </a:xfrm>
          <a:prstGeom prst="rect">
            <a:avLst/>
          </a:prstGeom>
        </p:spPr>
      </p:pic>
      <p:pic>
        <p:nvPicPr>
          <p:cNvPr id="7" name="Picture 6"/>
          <p:cNvPicPr>
            <a:picLocks noChangeAspect="1"/>
          </p:cNvPicPr>
          <p:nvPr/>
        </p:nvPicPr>
        <p:blipFill>
          <a:blip r:embed="rId7"/>
          <a:stretch>
            <a:fillRect/>
          </a:stretch>
        </p:blipFill>
        <p:spPr>
          <a:xfrm>
            <a:off x="4390855" y="4691774"/>
            <a:ext cx="3498680" cy="1284131"/>
          </a:xfrm>
          <a:prstGeom prst="rect">
            <a:avLst/>
          </a:prstGeom>
        </p:spPr>
      </p:pic>
      <p:pic>
        <p:nvPicPr>
          <p:cNvPr id="8" name="Picture 7"/>
          <p:cNvPicPr>
            <a:picLocks noChangeAspect="1"/>
          </p:cNvPicPr>
          <p:nvPr/>
        </p:nvPicPr>
        <p:blipFill>
          <a:blip r:embed="rId8"/>
          <a:stretch>
            <a:fillRect/>
          </a:stretch>
        </p:blipFill>
        <p:spPr>
          <a:xfrm>
            <a:off x="2569452" y="5432314"/>
            <a:ext cx="1315434" cy="841878"/>
          </a:xfrm>
          <a:prstGeom prst="rect">
            <a:avLst/>
          </a:prstGeom>
        </p:spPr>
      </p:pic>
    </p:spTree>
    <p:extLst>
      <p:ext uri="{BB962C8B-B14F-4D97-AF65-F5344CB8AC3E}">
        <p14:creationId xmlns:p14="http://schemas.microsoft.com/office/powerpoint/2010/main" val="23559518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a:solidFill>
                  <a:srgbClr val="575F6D"/>
                </a:solidFill>
                <a:latin typeface="Century Schoolbook"/>
              </a:rPr>
              <a:t>Reviewing the Entire Process</a:t>
            </a:r>
            <a:endParaRPr lang="en-US" sz="3600" dirty="0"/>
          </a:p>
        </p:txBody>
      </p:sp>
      <p:pic>
        <p:nvPicPr>
          <p:cNvPr id="4" name="Picture 3"/>
          <p:cNvPicPr>
            <a:picLocks noChangeAspect="1"/>
          </p:cNvPicPr>
          <p:nvPr/>
        </p:nvPicPr>
        <p:blipFill>
          <a:blip r:embed="rId3"/>
          <a:stretch>
            <a:fillRect/>
          </a:stretch>
        </p:blipFill>
        <p:spPr>
          <a:xfrm>
            <a:off x="2918255" y="1767642"/>
            <a:ext cx="5383916" cy="4472950"/>
          </a:xfrm>
          <a:prstGeom prst="rect">
            <a:avLst/>
          </a:prstGeom>
        </p:spPr>
      </p:pic>
      <p:pic>
        <p:nvPicPr>
          <p:cNvPr id="3" name="Picture 2"/>
          <p:cNvPicPr>
            <a:picLocks noChangeAspect="1"/>
          </p:cNvPicPr>
          <p:nvPr/>
        </p:nvPicPr>
        <p:blipFill>
          <a:blip r:embed="rId4"/>
          <a:stretch>
            <a:fillRect/>
          </a:stretch>
        </p:blipFill>
        <p:spPr>
          <a:xfrm>
            <a:off x="4494047" y="3295555"/>
            <a:ext cx="1966547" cy="884946"/>
          </a:xfrm>
          <a:prstGeom prst="rect">
            <a:avLst/>
          </a:prstGeom>
        </p:spPr>
      </p:pic>
      <p:pic>
        <p:nvPicPr>
          <p:cNvPr id="5" name="Picture 4"/>
          <p:cNvPicPr>
            <a:picLocks noChangeAspect="1"/>
          </p:cNvPicPr>
          <p:nvPr/>
        </p:nvPicPr>
        <p:blipFill>
          <a:blip r:embed="rId5"/>
          <a:stretch>
            <a:fillRect/>
          </a:stretch>
        </p:blipFill>
        <p:spPr>
          <a:xfrm>
            <a:off x="4674711" y="4557058"/>
            <a:ext cx="1533379" cy="435659"/>
          </a:xfrm>
          <a:prstGeom prst="rect">
            <a:avLst/>
          </a:prstGeom>
        </p:spPr>
      </p:pic>
      <p:pic>
        <p:nvPicPr>
          <p:cNvPr id="6" name="Picture 5"/>
          <p:cNvPicPr>
            <a:picLocks noChangeAspect="1"/>
          </p:cNvPicPr>
          <p:nvPr/>
        </p:nvPicPr>
        <p:blipFill>
          <a:blip r:embed="rId6"/>
          <a:stretch>
            <a:fillRect/>
          </a:stretch>
        </p:blipFill>
        <p:spPr>
          <a:xfrm>
            <a:off x="4759832" y="5272462"/>
            <a:ext cx="1700762" cy="1061378"/>
          </a:xfrm>
          <a:prstGeom prst="rect">
            <a:avLst/>
          </a:prstGeom>
        </p:spPr>
      </p:pic>
      <p:pic>
        <p:nvPicPr>
          <p:cNvPr id="7" name="Picture 6"/>
          <p:cNvPicPr>
            <a:picLocks noChangeAspect="1"/>
          </p:cNvPicPr>
          <p:nvPr/>
        </p:nvPicPr>
        <p:blipFill>
          <a:blip r:embed="rId7"/>
          <a:stretch>
            <a:fillRect/>
          </a:stretch>
        </p:blipFill>
        <p:spPr>
          <a:xfrm>
            <a:off x="2982349" y="2489982"/>
            <a:ext cx="967949" cy="805573"/>
          </a:xfrm>
          <a:prstGeom prst="rect">
            <a:avLst/>
          </a:prstGeom>
        </p:spPr>
      </p:pic>
    </p:spTree>
    <p:extLst>
      <p:ext uri="{BB962C8B-B14F-4D97-AF65-F5344CB8AC3E}">
        <p14:creationId xmlns:p14="http://schemas.microsoft.com/office/powerpoint/2010/main" val="354007852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smtClean="0">
                <a:solidFill>
                  <a:srgbClr val="575F6D"/>
                </a:solidFill>
                <a:latin typeface="Century Schoolbook"/>
              </a:rPr>
              <a:t>Compiler Construction Tools</a:t>
            </a:r>
            <a:endParaRPr lang="en-US" sz="3600" dirty="0"/>
          </a:p>
        </p:txBody>
      </p:sp>
      <p:sp>
        <p:nvSpPr>
          <p:cNvPr id="3" name="Content Placeholder 2"/>
          <p:cNvSpPr>
            <a:spLocks noGrp="1"/>
          </p:cNvSpPr>
          <p:nvPr>
            <p:ph idx="1"/>
          </p:nvPr>
        </p:nvSpPr>
        <p:spPr>
          <a:xfrm>
            <a:off x="1097280" y="1845734"/>
            <a:ext cx="10058400" cy="4319092"/>
          </a:xfrm>
        </p:spPr>
        <p:txBody>
          <a:bodyPr>
            <a:normAutofit lnSpcReduction="10000"/>
          </a:bodyPr>
          <a:lstStyle/>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Parser </a:t>
            </a:r>
            <a:r>
              <a:rPr lang="en-US" sz="2400" b="1" dirty="0" smtClean="0">
                <a:solidFill>
                  <a:prstClr val="black"/>
                </a:solidFill>
                <a:latin typeface="Century Schoolbook"/>
              </a:rPr>
              <a:t>generators: </a:t>
            </a:r>
            <a:r>
              <a:rPr lang="en-GB" sz="2400" dirty="0" smtClean="0"/>
              <a:t>It </a:t>
            </a:r>
            <a:r>
              <a:rPr lang="en-GB" sz="2400" dirty="0"/>
              <a:t>produces syntax </a:t>
            </a:r>
            <a:r>
              <a:rPr lang="en-GB" sz="2400" dirty="0" err="1"/>
              <a:t>analyzers</a:t>
            </a:r>
            <a:r>
              <a:rPr lang="en-GB" sz="2400" dirty="0"/>
              <a:t> (parsers) from the input that is based on a grammatical description of programming language or on a context-free grammar. </a:t>
            </a:r>
            <a:endParaRPr lang="en-US" sz="2400" dirty="0" smtClean="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Scanner </a:t>
            </a:r>
            <a:r>
              <a:rPr lang="en-US" sz="2400" b="1" dirty="0" smtClean="0">
                <a:solidFill>
                  <a:prstClr val="black"/>
                </a:solidFill>
                <a:latin typeface="Century Schoolbook"/>
              </a:rPr>
              <a:t>generators: </a:t>
            </a:r>
            <a:r>
              <a:rPr lang="en-GB" sz="2400" dirty="0" smtClean="0"/>
              <a:t>It </a:t>
            </a:r>
            <a:r>
              <a:rPr lang="en-GB" sz="2400" dirty="0"/>
              <a:t>generates lexical </a:t>
            </a:r>
            <a:r>
              <a:rPr lang="en-GB" sz="2400" dirty="0" err="1"/>
              <a:t>analyzers</a:t>
            </a:r>
            <a:r>
              <a:rPr lang="en-GB" sz="2400" dirty="0"/>
              <a:t> from the input that consists of regular expression description based on tokens of a language. It generates a finite automaton to recognize the regular expression.</a:t>
            </a:r>
            <a:endParaRPr lang="en-US" sz="2400" dirty="0" smtClean="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a:pPr>
            <a:r>
              <a:rPr lang="en-US" sz="2400" b="1" dirty="0">
                <a:solidFill>
                  <a:prstClr val="black"/>
                </a:solidFill>
                <a:latin typeface="Century Schoolbook"/>
              </a:rPr>
              <a:t>Syntax-directed </a:t>
            </a:r>
            <a:r>
              <a:rPr lang="en-US" sz="2400" b="1" dirty="0" smtClean="0">
                <a:solidFill>
                  <a:prstClr val="black"/>
                </a:solidFill>
                <a:latin typeface="Century Schoolbook"/>
              </a:rPr>
              <a:t>translation </a:t>
            </a:r>
            <a:r>
              <a:rPr lang="en-US" sz="2400" b="1" dirty="0" smtClean="0">
                <a:solidFill>
                  <a:prstClr val="black"/>
                </a:solidFill>
                <a:latin typeface="Century Schoolbook"/>
              </a:rPr>
              <a:t>engines: </a:t>
            </a:r>
            <a:r>
              <a:rPr lang="en-GB" sz="2400" dirty="0" smtClean="0"/>
              <a:t>It </a:t>
            </a:r>
            <a:r>
              <a:rPr lang="en-GB" sz="2400" dirty="0"/>
              <a:t>generates intermediate code with three address format from the input that consists of a parse tree. These engines have routines to traverse the parse tree and then produces the intermediate code. </a:t>
            </a:r>
            <a:endParaRPr lang="en-US" sz="2400" dirty="0" smtClean="0">
              <a:solidFill>
                <a:prstClr val="black"/>
              </a:solidFill>
              <a:latin typeface="Century Schoolbook"/>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80493111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cap="small" spc="0" dirty="0" smtClean="0">
                <a:solidFill>
                  <a:srgbClr val="575F6D"/>
                </a:solidFill>
                <a:latin typeface="Century Schoolbook"/>
              </a:rPr>
              <a:t>Compiler Construction Tools</a:t>
            </a:r>
            <a:endParaRPr lang="en-US" sz="3600" dirty="0"/>
          </a:p>
        </p:txBody>
      </p:sp>
      <p:sp>
        <p:nvSpPr>
          <p:cNvPr id="3" name="Content Placeholder 2"/>
          <p:cNvSpPr>
            <a:spLocks noGrp="1"/>
          </p:cNvSpPr>
          <p:nvPr>
            <p:ph idx="1"/>
          </p:nvPr>
        </p:nvSpPr>
        <p:spPr>
          <a:xfrm>
            <a:off x="1097280" y="1845734"/>
            <a:ext cx="10058400" cy="4319092"/>
          </a:xfrm>
        </p:spPr>
        <p:txBody>
          <a:bodyPr>
            <a:normAutofit/>
          </a:bodyPr>
          <a:lstStyle/>
          <a:p>
            <a:pPr marL="457200" lvl="0" indent="-457200">
              <a:lnSpc>
                <a:spcPct val="120000"/>
              </a:lnSpc>
              <a:spcBef>
                <a:spcPts val="600"/>
              </a:spcBef>
              <a:spcAft>
                <a:spcPts val="0"/>
              </a:spcAft>
              <a:buClr>
                <a:srgbClr val="FE8637"/>
              </a:buClr>
              <a:buSzPct val="70000"/>
              <a:buFont typeface="+mj-lt"/>
              <a:buAutoNum type="arabicParenR" startAt="4"/>
            </a:pPr>
            <a:r>
              <a:rPr lang="en-US" sz="2400" b="1" dirty="0" smtClean="0">
                <a:solidFill>
                  <a:prstClr val="black"/>
                </a:solidFill>
                <a:latin typeface="Century Schoolbook"/>
              </a:rPr>
              <a:t>Code-generator: </a:t>
            </a:r>
            <a:r>
              <a:rPr lang="en-GB" sz="2400" dirty="0"/>
              <a:t>It generates the machine language for a target machine.</a:t>
            </a:r>
            <a:endParaRPr lang="en-US" sz="2400" dirty="0" smtClean="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startAt="4"/>
            </a:pPr>
            <a:r>
              <a:rPr lang="en-US" sz="2400" b="1" dirty="0">
                <a:solidFill>
                  <a:prstClr val="black"/>
                </a:solidFill>
                <a:latin typeface="Century Schoolbook"/>
              </a:rPr>
              <a:t>Data-flow analysis </a:t>
            </a:r>
            <a:r>
              <a:rPr lang="en-US" sz="2400" b="1" dirty="0" smtClean="0">
                <a:solidFill>
                  <a:prstClr val="black"/>
                </a:solidFill>
                <a:latin typeface="Century Schoolbook"/>
              </a:rPr>
              <a:t>engines: </a:t>
            </a:r>
            <a:r>
              <a:rPr lang="en-US" sz="2400" dirty="0" smtClean="0">
                <a:solidFill>
                  <a:prstClr val="black"/>
                </a:solidFill>
                <a:latin typeface="Century Schoolbook"/>
              </a:rPr>
              <a:t>A</a:t>
            </a:r>
            <a:r>
              <a:rPr lang="en-GB" sz="2400" dirty="0" smtClean="0"/>
              <a:t> </a:t>
            </a:r>
            <a:r>
              <a:rPr lang="en-GB" sz="2400" dirty="0"/>
              <a:t>key part of the code optimization that gathers the information, that is the values that flow from one part of a program to another. </a:t>
            </a:r>
            <a:endParaRPr lang="en-US" sz="2400" dirty="0" smtClean="0">
              <a:solidFill>
                <a:prstClr val="black"/>
              </a:solidFill>
              <a:latin typeface="Century Schoolbook"/>
            </a:endParaRPr>
          </a:p>
          <a:p>
            <a:pPr marL="457200" lvl="0" indent="-457200">
              <a:lnSpc>
                <a:spcPct val="120000"/>
              </a:lnSpc>
              <a:spcBef>
                <a:spcPts val="600"/>
              </a:spcBef>
              <a:spcAft>
                <a:spcPts val="0"/>
              </a:spcAft>
              <a:buClr>
                <a:srgbClr val="FE8637"/>
              </a:buClr>
              <a:buSzPct val="70000"/>
              <a:buFont typeface="+mj-lt"/>
              <a:buAutoNum type="arabicParenR" startAt="4"/>
            </a:pPr>
            <a:r>
              <a:rPr lang="en-US" sz="2400" b="1" dirty="0">
                <a:solidFill>
                  <a:prstClr val="black"/>
                </a:solidFill>
                <a:latin typeface="Century Schoolbook"/>
              </a:rPr>
              <a:t>Compiler-construction </a:t>
            </a:r>
            <a:r>
              <a:rPr lang="en-US" sz="2400" b="1" dirty="0" smtClean="0">
                <a:solidFill>
                  <a:prstClr val="black"/>
                </a:solidFill>
                <a:latin typeface="Century Schoolbook"/>
              </a:rPr>
              <a:t>toolkits: </a:t>
            </a:r>
            <a:r>
              <a:rPr lang="en-GB" sz="2400" dirty="0"/>
              <a:t>It provides an integrated set of routines that aids in building compiler components or in the construction of various phases of compiler.</a:t>
            </a:r>
            <a:endParaRPr lang="en-US" sz="2400" dirty="0" smtClean="0">
              <a:solidFill>
                <a:prstClr val="black"/>
              </a:solidFill>
              <a:latin typeface="Century Schoolbook"/>
            </a:endParaRPr>
          </a:p>
          <a:p>
            <a:pPr marL="365760" lvl="1" indent="0">
              <a:lnSpc>
                <a:spcPct val="80000"/>
              </a:lnSpc>
              <a:spcBef>
                <a:spcPct val="20000"/>
              </a:spcBef>
              <a:spcAft>
                <a:spcPts val="0"/>
              </a:spcAft>
              <a:buClr>
                <a:srgbClr val="FE8637"/>
              </a:buClr>
              <a:buSzPct val="80000"/>
              <a:buNone/>
            </a:pPr>
            <a:endParaRPr lang="en-US" sz="2400" dirty="0">
              <a:solidFill>
                <a:srgbClr val="FE8637">
                  <a:lumMod val="75000"/>
                </a:srgbClr>
              </a:solidFill>
              <a:latin typeface="Century Schoolbook"/>
              <a:ea typeface="ＭＳ Ｐゴシック" panose="020B0600070205080204" pitchFamily="34" charset="-128"/>
            </a:endParaRPr>
          </a:p>
        </p:txBody>
      </p:sp>
    </p:spTree>
    <p:extLst>
      <p:ext uri="{BB962C8B-B14F-4D97-AF65-F5344CB8AC3E}">
        <p14:creationId xmlns:p14="http://schemas.microsoft.com/office/powerpoint/2010/main" val="170888373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Reading Materials</a:t>
            </a:r>
            <a:endParaRPr lang="en-GB" dirty="0"/>
          </a:p>
        </p:txBody>
      </p:sp>
      <p:sp>
        <p:nvSpPr>
          <p:cNvPr id="3" name="Content Placeholder 2"/>
          <p:cNvSpPr>
            <a:spLocks noGrp="1"/>
          </p:cNvSpPr>
          <p:nvPr>
            <p:ph idx="1"/>
          </p:nvPr>
        </p:nvSpPr>
        <p:spPr/>
        <p:txBody>
          <a:bodyPr/>
          <a:lstStyle/>
          <a:p>
            <a:pPr marL="274320" lvl="0" indent="-274320">
              <a:lnSpc>
                <a:spcPct val="100000"/>
              </a:lnSpc>
              <a:spcBef>
                <a:spcPts val="600"/>
              </a:spcBef>
              <a:spcAft>
                <a:spcPts val="0"/>
              </a:spcAft>
              <a:buClr>
                <a:srgbClr val="FE8637"/>
              </a:buClr>
              <a:buSzPct val="70000"/>
              <a:buFont typeface="Wingdings"/>
              <a:buChar char=""/>
            </a:pPr>
            <a:r>
              <a:rPr lang="en-GB" sz="2400" dirty="0" smtClean="0">
                <a:solidFill>
                  <a:schemeClr val="tx1"/>
                </a:solidFill>
                <a:latin typeface="Century Schoolbook" panose="02040604050505020304" pitchFamily="18" charset="0"/>
              </a:rPr>
              <a:t>Chapter -1 of your Text book:</a:t>
            </a:r>
          </a:p>
          <a:p>
            <a:pPr marL="566928" lvl="1" indent="-274320">
              <a:lnSpc>
                <a:spcPct val="100000"/>
              </a:lnSpc>
              <a:spcBef>
                <a:spcPts val="600"/>
              </a:spcBef>
              <a:spcAft>
                <a:spcPts val="0"/>
              </a:spcAft>
              <a:buClr>
                <a:srgbClr val="FE8637"/>
              </a:buClr>
              <a:buSzPct val="70000"/>
              <a:buFont typeface="Wingdings"/>
              <a:buChar char=""/>
            </a:pPr>
            <a:r>
              <a:rPr lang="en-US" sz="2200" dirty="0" smtClean="0">
                <a:solidFill>
                  <a:prstClr val="black"/>
                </a:solidFill>
                <a:latin typeface="Century Schoolbook"/>
              </a:rPr>
              <a:t>Compilers</a:t>
            </a:r>
            <a:r>
              <a:rPr lang="en-US" sz="2200" dirty="0">
                <a:solidFill>
                  <a:prstClr val="black"/>
                </a:solidFill>
                <a:latin typeface="Century Schoolbook"/>
              </a:rPr>
              <a:t>: Principles, Techniques, and Tools </a:t>
            </a:r>
            <a:endParaRPr lang="en-US" sz="2200" dirty="0" smtClean="0">
              <a:solidFill>
                <a:prstClr val="black"/>
              </a:solidFill>
              <a:latin typeface="Century Schoolbook"/>
            </a:endParaRPr>
          </a:p>
          <a:p>
            <a:pPr marL="274320" indent="-274320">
              <a:lnSpc>
                <a:spcPct val="100000"/>
              </a:lnSpc>
              <a:spcBef>
                <a:spcPts val="600"/>
              </a:spcBef>
              <a:spcAft>
                <a:spcPts val="0"/>
              </a:spcAft>
              <a:buClr>
                <a:srgbClr val="FE8637"/>
              </a:buClr>
              <a:buSzPct val="70000"/>
              <a:buFont typeface="Wingdings"/>
              <a:buChar char=""/>
            </a:pPr>
            <a:r>
              <a:rPr lang="en-GB" dirty="0">
                <a:hlinkClick r:id="rId2"/>
              </a:rPr>
              <a:t>https://www.geeksforgeeks.org/compiler-design-tutorials/</a:t>
            </a:r>
            <a:endParaRPr lang="en-GB" dirty="0"/>
          </a:p>
          <a:p>
            <a:pPr marL="274320" lvl="0" indent="-274320">
              <a:lnSpc>
                <a:spcPct val="100000"/>
              </a:lnSpc>
              <a:spcBef>
                <a:spcPts val="600"/>
              </a:spcBef>
              <a:spcAft>
                <a:spcPts val="0"/>
              </a:spcAft>
              <a:buClr>
                <a:srgbClr val="FE8637"/>
              </a:buClr>
              <a:buSzPct val="70000"/>
              <a:buFont typeface="Wingdings"/>
              <a:buChar char=""/>
            </a:pPr>
            <a:endParaRPr lang="en-GB" dirty="0" smtClean="0">
              <a:hlinkClick r:id="rId2"/>
            </a:endParaRPr>
          </a:p>
          <a:p>
            <a:endParaRPr lang="en-GB" dirty="0"/>
          </a:p>
        </p:txBody>
      </p:sp>
    </p:spTree>
    <p:extLst>
      <p:ext uri="{BB962C8B-B14F-4D97-AF65-F5344CB8AC3E}">
        <p14:creationId xmlns:p14="http://schemas.microsoft.com/office/powerpoint/2010/main" val="2423507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sz="4800" cap="small" spc="0" dirty="0" smtClean="0">
                <a:solidFill>
                  <a:srgbClr val="575F6D"/>
                </a:solidFill>
                <a:latin typeface="Century Schoolbook"/>
              </a:rPr>
              <a:t>The End</a:t>
            </a:r>
            <a:endParaRPr lang="en-US" sz="4800" dirty="0"/>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676067790"/>
      </p:ext>
    </p:extLst>
  </p:cSld>
  <p:clrMapOvr>
    <a:masterClrMapping/>
  </p:clrMapOvr>
  <p:timing>
    <p:tnLst>
      <p:par>
        <p:cTn id="1" dur="indefinite" restart="never" nodeType="tmRoot"/>
      </p:par>
    </p:tnLst>
  </p:timing>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2119</TotalTime>
  <Words>3958</Words>
  <Application>Microsoft Office PowerPoint</Application>
  <PresentationFormat>Widescreen</PresentationFormat>
  <Paragraphs>484</Paragraphs>
  <Slides>47</Slides>
  <Notes>35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47</vt:i4>
      </vt:variant>
    </vt:vector>
  </HeadingPairs>
  <TitlesOfParts>
    <vt:vector size="57" baseType="lpstr">
      <vt:lpstr>ＭＳ Ｐゴシック</vt:lpstr>
      <vt:lpstr>Adobe Caslon Pro</vt:lpstr>
      <vt:lpstr>Angsana New</vt:lpstr>
      <vt:lpstr>Arial</vt:lpstr>
      <vt:lpstr>Calibri</vt:lpstr>
      <vt:lpstr>Calibri Light</vt:lpstr>
      <vt:lpstr>Century Schoolbook</vt:lpstr>
      <vt:lpstr>Wingdings</vt:lpstr>
      <vt:lpstr>Wingdings 2</vt:lpstr>
      <vt:lpstr>Retrospect</vt:lpstr>
      <vt:lpstr>CSE-361:Compiler Design</vt:lpstr>
      <vt:lpstr>Textbook</vt:lpstr>
      <vt:lpstr>Grading Policy</vt:lpstr>
      <vt:lpstr>Language Processor</vt:lpstr>
      <vt:lpstr>Language Processor: Compiler </vt:lpstr>
      <vt:lpstr>Language Processor: Interpreter </vt:lpstr>
      <vt:lpstr>Compiler vs. Interpreter</vt:lpstr>
      <vt:lpstr>Hybrid Compiler</vt:lpstr>
      <vt:lpstr>Hybrid Compiler</vt:lpstr>
      <vt:lpstr>Language Processor: Assembler</vt:lpstr>
      <vt:lpstr>Other Language Processors: </vt:lpstr>
      <vt:lpstr>Compilation task is full of variety ?? </vt:lpstr>
      <vt:lpstr>Job of Compiler</vt:lpstr>
      <vt:lpstr>Why Study Compiler?</vt:lpstr>
      <vt:lpstr>Challenges of Compiler Construction</vt:lpstr>
      <vt:lpstr>Compiler and other areas</vt:lpstr>
      <vt:lpstr>Requirement</vt:lpstr>
      <vt:lpstr>Analysis-Synthesis model of compilation</vt:lpstr>
      <vt:lpstr>Phases of Compiler </vt:lpstr>
      <vt:lpstr>Compilation Steps/Phases</vt:lpstr>
      <vt:lpstr>Lexical Analysis</vt:lpstr>
      <vt:lpstr>Lexical Analysis</vt:lpstr>
      <vt:lpstr>Lexical Analysis</vt:lpstr>
      <vt:lpstr>Syntax Analysis (Parsing)</vt:lpstr>
      <vt:lpstr>Syntax Analysis: Grammars</vt:lpstr>
      <vt:lpstr>Syntax Analysis: Syntax Tree</vt:lpstr>
      <vt:lpstr>Semantic Analysis</vt:lpstr>
      <vt:lpstr>Semantic Analysis</vt:lpstr>
      <vt:lpstr>Intermediate Code Generation</vt:lpstr>
      <vt:lpstr>Intermediate Code Generation</vt:lpstr>
      <vt:lpstr>Code Optimization</vt:lpstr>
      <vt:lpstr>Code Optimization</vt:lpstr>
      <vt:lpstr>Code Generation</vt:lpstr>
      <vt:lpstr>Code Generation</vt:lpstr>
      <vt:lpstr>Symbol Table</vt:lpstr>
      <vt:lpstr>Symbol Table</vt:lpstr>
      <vt:lpstr>Symbol Table</vt:lpstr>
      <vt:lpstr>Symbol Table</vt:lpstr>
      <vt:lpstr>Error Detection, Recovery and Reporting</vt:lpstr>
      <vt:lpstr>Error Detection, Recovery and Reporting</vt:lpstr>
      <vt:lpstr>Error Detection, Recovery and Reporting</vt:lpstr>
      <vt:lpstr>Reviewing the Entire Process</vt:lpstr>
      <vt:lpstr>Reviewing the Entire Process</vt:lpstr>
      <vt:lpstr>Compiler Construction Tools</vt:lpstr>
      <vt:lpstr>Compiler Construction Tools</vt:lpstr>
      <vt:lpstr>Reading Materials</vt:lpstr>
      <vt:lpstr>The End</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CSE-361:Compiler Design</dc:title>
  <dc:creator>Windows User</dc:creator>
  <cp:lastModifiedBy>user</cp:lastModifiedBy>
  <cp:revision>267</cp:revision>
  <dcterms:created xsi:type="dcterms:W3CDTF">2015-02-21T15:44:08Z</dcterms:created>
  <dcterms:modified xsi:type="dcterms:W3CDTF">2021-02-15T04:20:46Z</dcterms:modified>
</cp:coreProperties>
</file>